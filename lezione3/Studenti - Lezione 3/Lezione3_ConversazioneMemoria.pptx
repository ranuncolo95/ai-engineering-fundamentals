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>
                    <a:alpha val="85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68580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Conversazione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&amp; Memoria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33832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Engineering — Lezione 3 di 6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93192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Martedì 26/05/2026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A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5 ore  •  Monte ore: 15/30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A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Huyen Cap. 2 (sezione context window e token)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0" y="-914400"/>
            <a:ext cx="4114800" cy="411480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315200" y="2286000"/>
            <a:ext cx="2743200" cy="2743200"/>
          </a:xfrm>
          <a:prstGeom prst="ellipse">
            <a:avLst/>
          </a:prstGeom>
          <a:solidFill>
            <a:srgbClr val="02C39A">
              <a:alpha val="2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Cosa facciamo oggi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64008" cy="3474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" y="1005840"/>
            <a:ext cx="201168" cy="201168"/>
          </a:xfrm>
          <a:prstGeom prst="ellipse">
            <a:avLst/>
          </a:prstGeom>
          <a:solidFill>
            <a:srgbClr val="6B8CA4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96012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8C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09:00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463040" y="94183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Lezione 2 + presentazioni gruppi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63040" y="118872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8C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 recap, poi 3 × 10 min presentazioni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1691640"/>
            <a:ext cx="201168" cy="20116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64592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8C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09:45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463040" y="162763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 e token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63040" y="187452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8C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'campo visivo' del modello — Huyen Cap. 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8600" y="2377440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33172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8C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10:30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463040" y="231343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history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63040" y="256032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8C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si struttura una conversazione multi-turno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" y="3063240"/>
            <a:ext cx="201168" cy="20116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01752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8C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11:15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463040" y="299923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 persistente + Streaming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63040" y="324612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8C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su file, sessioni multiple, output in tempo reale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28600" y="3749040"/>
            <a:ext cx="201168" cy="201168"/>
          </a:xfrm>
          <a:prstGeom prst="ellipse">
            <a:avLst/>
          </a:prstGeom>
          <a:solidFill>
            <a:srgbClr val="E87722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370332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8C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11:45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463040" y="368503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+ presentazioni gruppi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463040" y="393192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8C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Costruiamo il chatbot CLI con memoria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0" y="914400"/>
            <a:ext cx="2468880" cy="3474720"/>
          </a:xfrm>
          <a:prstGeom prst="rect">
            <a:avLst/>
          </a:prstGeom>
          <a:solidFill>
            <a:srgbClr val="F0F4F8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92240" y="10515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Deliverable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92240" y="141732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CLI con memoria persistente tra sessioni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92240" y="32004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Huyen Cap. 2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(sezione context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e token)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Context Window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50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'campo visivo' del modello — Huyen Cap. 2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321040" cy="548640"/>
          </a:xfrm>
          <a:prstGeom prst="rect">
            <a:avLst/>
          </a:prstGeom>
          <a:solidFill>
            <a:srgbClr val="0A3A5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25880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 — tutto ciò che il modello 'vede' in questo momento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1325880" cy="1188720"/>
          </a:xfrm>
          <a:prstGeom prst="rect">
            <a:avLst/>
          </a:prstGeom>
          <a:solidFill>
            <a:srgbClr val="0A5A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920240"/>
            <a:ext cx="1325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828800" y="1920240"/>
            <a:ext cx="1325880" cy="1188720"/>
          </a:xfrm>
          <a:prstGeom prst="rect">
            <a:avLst/>
          </a:prstGeom>
          <a:solidFill>
            <a:srgbClr val="0A3A6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1920240"/>
            <a:ext cx="1325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Messaggio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(user)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0" y="1920240"/>
            <a:ext cx="1600200" cy="1188720"/>
          </a:xfrm>
          <a:prstGeom prst="rect">
            <a:avLst/>
          </a:prstGeom>
          <a:solidFill>
            <a:srgbClr val="4A2A6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920240"/>
            <a:ext cx="1600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Risposta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(assistant)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846320" y="1920240"/>
            <a:ext cx="1325880" cy="1188720"/>
          </a:xfrm>
          <a:prstGeom prst="rect">
            <a:avLst/>
          </a:prstGeom>
          <a:solidFill>
            <a:srgbClr val="0A3A6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920240"/>
            <a:ext cx="1325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Messaggio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(user)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17920" y="1920240"/>
            <a:ext cx="1600200" cy="1188720"/>
          </a:xfrm>
          <a:prstGeom prst="rect">
            <a:avLst/>
          </a:prstGeom>
          <a:solidFill>
            <a:srgbClr val="4A2A6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1920240"/>
            <a:ext cx="1600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Risposta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(assistant)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863840" y="1920240"/>
            <a:ext cx="777240" cy="1188720"/>
          </a:xfrm>
          <a:prstGeom prst="rect">
            <a:avLst/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840" y="1920240"/>
            <a:ext cx="777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Oltre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= oblio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291840"/>
            <a:ext cx="4114800" cy="548640"/>
          </a:xfrm>
          <a:prstGeom prst="rect">
            <a:avLst/>
          </a:prstGeom>
          <a:solidFill>
            <a:srgbClr val="0A3040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3832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📏  Claude Haiku: 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286000" y="338328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200.000 token di contesto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09160" y="3291840"/>
            <a:ext cx="4114800" cy="548640"/>
          </a:xfrm>
          <a:prstGeom prst="rect">
            <a:avLst/>
          </a:prstGeom>
          <a:solidFill>
            <a:srgbClr val="0A3040"/>
          </a:solidFill>
          <a:ln/>
        </p:spPr>
      </p:sp>
      <p:sp>
        <p:nvSpPr>
          <p:cNvPr id="22" name="Text 20"/>
          <p:cNvSpPr/>
          <p:nvPr/>
        </p:nvSpPr>
        <p:spPr>
          <a:xfrm>
            <a:off x="4800600" y="33832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🇮🇹  Testo italiano: 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37960" y="338328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token ogni 3-4 caratteri (più del doppio dell'inglese)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931920"/>
            <a:ext cx="4114800" cy="548640"/>
          </a:xfrm>
          <a:prstGeom prst="rect">
            <a:avLst/>
          </a:prstGeom>
          <a:solidFill>
            <a:srgbClr val="0A3040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0233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  Fuori dalla finestra: 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286000" y="402336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modello non lo vede — è come se non esistesse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09160" y="3931920"/>
            <a:ext cx="4114800" cy="548640"/>
          </a:xfrm>
          <a:prstGeom prst="rect">
            <a:avLst/>
          </a:prstGeom>
          <a:solidFill>
            <a:srgbClr val="0A3040"/>
          </a:solidFill>
          <a:ln/>
        </p:spPr>
      </p:sp>
      <p:sp>
        <p:nvSpPr>
          <p:cNvPr id="28" name="Text 26"/>
          <p:cNvSpPr/>
          <p:nvPr/>
        </p:nvSpPr>
        <p:spPr>
          <a:xfrm>
            <a:off x="4800600" y="40233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  Più contesto: 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537960" y="402336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Più token → più costo → gestire con attenzione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Conversation History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8C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il chatbot 'ricorda' la conversazione — in realtà la rilegge ogni volta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5120640" cy="3749040"/>
          </a:xfrm>
          <a:prstGeom prst="rect">
            <a:avLst/>
          </a:prstGeom>
          <a:solidFill>
            <a:srgbClr val="1E2A3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188720"/>
            <a:ext cx="49377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3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La history è una lista di messaggi
</a:t>
            </a:r>
            <a:pPr indent="0" marL="0">
              <a:buNone/>
            </a:pPr>
            <a:r>
              <a:rPr lang="en-US" sz="1000" dirty="0">
                <a:solidFill>
                  <a:srgbClr val="AAC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history</a:t>
            </a:r>
            <a:pPr indent="0" marL="0">
              <a:buNone/>
            </a:pPr>
            <a:r>
              <a:rPr lang="en-US" sz="1000" dirty="0">
                <a:solidFill>
                  <a:srgbClr val="AAC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[]
</a:t>
            </a:r>
            <a:pPr indent="0" marL="0">
              <a:buNone/>
            </a:pPr>
            <a:r>
              <a:rPr lang="en-US" sz="100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pPr indent="0" marL="0">
              <a:buNone/>
            </a:pPr>
            <a:r>
              <a:rPr lang="en-US" sz="1000" dirty="0">
                <a:solidFill>
                  <a:srgbClr val="61A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</a:t>
            </a:r>
            <a:pPr indent="0" marL="0">
              <a:buNone/>
            </a:pPr>
            <a:r>
              <a:rPr lang="en-US" sz="1000" dirty="0">
                <a:solidFill>
                  <a:srgbClr val="AAC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(messaggio):
</a:t>
            </a:r>
            <a:pPr indent="0" marL="0">
              <a:buNone/>
            </a:pPr>
            <a:r>
              <a:rPr lang="en-US" sz="1000" dirty="0">
                <a:solidFill>
                  <a:srgbClr val="5C63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1. Aggiungi messaggio utente
</a:t>
            </a:r>
            <a:pPr indent="0" marL="0">
              <a:buNone/>
            </a:pPr>
            <a:r>
              <a:rPr lang="en-US" sz="1000" dirty="0">
                <a:solidFill>
                  <a:srgbClr val="AAC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history</a:t>
            </a:r>
            <a:pPr indent="0" marL="0">
              <a:buNone/>
            </a:pPr>
            <a:r>
              <a:rPr lang="en-US" sz="1000" dirty="0">
                <a:solidFill>
                  <a:srgbClr val="AAC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.append({
</a:t>
            </a:r>
            <a:pPr indent="0" marL="0">
              <a:buNone/>
            </a:pPr>
            <a:r>
              <a:rPr lang="en-US" sz="1000" dirty="0">
                <a:solidFill>
                  <a:srgbClr val="AAC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"role": </a:t>
            </a:r>
            <a:pPr indent="0" marL="0">
              <a:buNone/>
            </a:pPr>
            <a:r>
              <a:rPr lang="en-US" sz="10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"user"</a:t>
            </a:r>
            <a:pPr indent="0" marL="0">
              <a:buNone/>
            </a:pPr>
            <a:r>
              <a:rPr lang="en-US" sz="1000" dirty="0">
                <a:solidFill>
                  <a:srgbClr val="AAC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</a:t>
            </a:r>
            <a:pPr indent="0" marL="0">
              <a:buNone/>
            </a:pPr>
            <a:r>
              <a:rPr lang="en-US" sz="1000" dirty="0">
                <a:solidFill>
                  <a:srgbClr val="AAC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"content": </a:t>
            </a:r>
            <a:pPr indent="0" marL="0">
              <a:buNone/>
            </a:pPr>
            <a:r>
              <a:rPr lang="en-US" sz="10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messaggio
    })
</a:t>
            </a:r>
            <a:pPr indent="0" marL="0">
              <a:buNone/>
            </a:pPr>
            <a:r>
              <a:rPr lang="en-US" sz="1000" dirty="0">
                <a:solidFill>
                  <a:srgbClr val="5C63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2. Manda TUTTA la history
</a:t>
            </a:r>
            <a:pPr indent="0" marL="0">
              <a:buNone/>
            </a:pPr>
            <a:r>
              <a:rPr lang="en-US" sz="1000" dirty="0">
                <a:solidFill>
                  <a:srgbClr val="AAC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 = client.messages.create(
</a:t>
            </a:r>
            <a:pPr indent="0" marL="0">
              <a:buNone/>
            </a:pPr>
            <a:r>
              <a:rPr lang="en-US" sz="1000" dirty="0">
                <a:solidFill>
                  <a:srgbClr val="AAC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model=</a:t>
            </a:r>
            <a:pPr indent="0" marL="0">
              <a:buNone/>
            </a:pPr>
            <a:r>
              <a:rPr lang="en-US" sz="10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"claude-haiku-4-5-20251001"</a:t>
            </a:r>
            <a:pPr indent="0" marL="0">
              <a:buNone/>
            </a:pPr>
            <a:r>
              <a:rPr lang="en-US" sz="1000" dirty="0">
                <a:solidFill>
                  <a:srgbClr val="AAC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AC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messages=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AAC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history</a:t>
            </a:r>
            <a:pPr indent="0" marL="0">
              <a:buNone/>
            </a:pPr>
            <a:r>
              <a:rPr lang="en-US" sz="1000" dirty="0">
                <a:solidFill>
                  <a:srgbClr val="AAC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    )
</a:t>
            </a:r>
            <a:pPr indent="0" marL="0">
              <a:buNone/>
            </a:pPr>
            <a:r>
              <a:rPr lang="en-US" sz="1000" dirty="0">
                <a:solidFill>
                  <a:srgbClr val="5C63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3. Aggiungi risposta alla history
</a:t>
            </a:r>
            <a:pPr indent="0" marL="0">
              <a:buNone/>
            </a:pPr>
            <a:r>
              <a:rPr lang="en-US" sz="1000" dirty="0">
                <a:solidFill>
                  <a:srgbClr val="AAC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history</a:t>
            </a:r>
            <a:pPr indent="0" marL="0">
              <a:buNone/>
            </a:pPr>
            <a:r>
              <a:rPr lang="en-US" sz="1000" dirty="0">
                <a:solidFill>
                  <a:srgbClr val="AAC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.append({
</a:t>
            </a:r>
            <a:pPr indent="0" marL="0">
              <a:buNone/>
            </a:pPr>
            <a:r>
              <a:rPr lang="en-US" sz="1000" dirty="0">
                <a:solidFill>
                  <a:srgbClr val="AAC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"role": </a:t>
            </a:r>
            <a:pPr indent="0" marL="0">
              <a:buNone/>
            </a:pPr>
            <a:r>
              <a:rPr lang="en-US" sz="10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"assistant"</a:t>
            </a:r>
            <a:pPr indent="0" marL="0">
              <a:buNone/>
            </a:pPr>
            <a:r>
              <a:rPr lang="en-US" sz="1000" dirty="0">
                <a:solidFill>
                  <a:srgbClr val="AAC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AC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AC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"content": </a:t>
            </a:r>
            <a:pPr indent="0" marL="0">
              <a:buNone/>
            </a:pPr>
            <a:r>
              <a:rPr lang="en-US" sz="1000" dirty="0">
                <a:solidFill>
                  <a:srgbClr val="AAC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resp.content[</a:t>
            </a:r>
            <a:pPr indent="0" marL="0">
              <a:buNone/>
            </a:pPr>
            <a:r>
              <a:rPr lang="en-US" sz="10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000" dirty="0">
                <a:solidFill>
                  <a:srgbClr val="AAC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].text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AC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AC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resp.content[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000" dirty="0">
                <a:solidFill>
                  <a:srgbClr val="AAC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].text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504688" y="1828800"/>
            <a:ext cx="320040" cy="0"/>
          </a:xfrm>
          <a:prstGeom prst="line">
            <a:avLst/>
          </a:prstGeom>
          <a:noFill/>
          <a:ln w="12700">
            <a:solidFill>
              <a:srgbClr val="02C39A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5852160" y="1444752"/>
            <a:ext cx="2971800" cy="868680"/>
          </a:xfrm>
          <a:prstGeom prst="rect">
            <a:avLst/>
          </a:prstGeom>
          <a:solidFill>
            <a:srgbClr val="F0F4F8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0" y="150876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1️⃣ Aggiungi user msg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0" y="1810512"/>
            <a:ext cx="2788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messaggio va nella lista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role: user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504688" y="2788920"/>
            <a:ext cx="320040" cy="0"/>
          </a:xfrm>
          <a:prstGeom prst="line">
            <a:avLst/>
          </a:prstGeom>
          <a:noFill/>
          <a:ln w="12700">
            <a:solidFill>
              <a:srgbClr val="E87722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5852160" y="2404872"/>
            <a:ext cx="2971800" cy="868680"/>
          </a:xfrm>
          <a:prstGeom prst="rect">
            <a:avLst/>
          </a:prstGeom>
          <a:solidFill>
            <a:srgbClr val="F0F4F8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0" y="246888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2️⃣ Manda TUTTA la lista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0" y="2770632"/>
            <a:ext cx="2788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solo l'ultimo msg!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modello vede tutto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504688" y="3749040"/>
            <a:ext cx="320040" cy="0"/>
          </a:xfrm>
          <a:prstGeom prst="line">
            <a:avLst/>
          </a:prstGeom>
          <a:noFill/>
          <a:ln w="12700">
            <a:solidFill>
              <a:srgbClr val="5B2D8E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5852160" y="3364992"/>
            <a:ext cx="2971800" cy="868680"/>
          </a:xfrm>
          <a:prstGeom prst="rect">
            <a:avLst/>
          </a:prstGeom>
          <a:solidFill>
            <a:srgbClr val="F0F4F8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342900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3️⃣ Aggiungi risposta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0" y="3730752"/>
            <a:ext cx="2788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Anche la risposta va salvata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il turno successivo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Quando la conversazione diventa troppo lunga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5895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8C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 strategie — Huyen Cap. 2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697480" cy="3931920"/>
          </a:xfrm>
          <a:prstGeom prst="rect">
            <a:avLst/>
          </a:prstGeom>
          <a:solidFill>
            <a:srgbClr val="F0F4F8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2697480" cy="4572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05156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✂️ Truncation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536192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Taglia i messaggi più vecchi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la history supera N messaggi.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Semplice ma perde il contesto iniziale.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11480" y="2606040"/>
            <a:ext cx="2514600" cy="548640"/>
          </a:xfrm>
          <a:prstGeom prst="rect">
            <a:avLst/>
          </a:prstGeom>
          <a:solidFill>
            <a:srgbClr val="1E2A3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65176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len(history) &gt; MAX_TURNS: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7200" y="2898648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history = history[-MAX_TURNS:]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11480" y="324612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Semplicissimo da implementare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352044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Perde il contesto delle prime domande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3840480"/>
            <a:ext cx="274320" cy="2743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38404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" y="3867912"/>
            <a:ext cx="2148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per: chat semplici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0" y="1005840"/>
            <a:ext cx="2697480" cy="3931920"/>
          </a:xfrm>
          <a:prstGeom prst="rect">
            <a:avLst/>
          </a:prstGeom>
          <a:solidFill>
            <a:srgbClr val="F0F4F8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0" y="1005840"/>
            <a:ext cx="269748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3291840" y="105156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Sliding Window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91840" y="1536192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Mantieni sempre gli ultimi N messaggi.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 più sofisticata del truncation: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scorre con la conversazione.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91840" y="2606040"/>
            <a:ext cx="2514600" cy="548640"/>
          </a:xfrm>
          <a:prstGeom prst="rect">
            <a:avLst/>
          </a:prstGeom>
          <a:solidFill>
            <a:srgbClr val="1E2A38"/>
          </a:solidFill>
          <a:ln/>
        </p:spPr>
      </p:sp>
      <p:sp>
        <p:nvSpPr>
          <p:cNvPr id="21" name="Text 19"/>
          <p:cNvSpPr/>
          <p:nvPr/>
        </p:nvSpPr>
        <p:spPr>
          <a:xfrm>
            <a:off x="3337560" y="265176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Mantieni system + ultimi N turn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337560" y="2898648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messages = history[-N*2:]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291840" y="324612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Mantiene sempre il contesto recente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91840" y="352044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Dimentica ancora l'inizio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91840" y="3840480"/>
            <a:ext cx="274320" cy="2743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3291840" y="38404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657600" y="3867912"/>
            <a:ext cx="2148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per: chat lunghe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080760" y="1005840"/>
            <a:ext cx="2697480" cy="3931920"/>
          </a:xfrm>
          <a:prstGeom prst="rect">
            <a:avLst/>
          </a:prstGeom>
          <a:solidFill>
            <a:srgbClr val="F0F4F8"/>
          </a:solidFill>
          <a:ln w="12700">
            <a:solidFill>
              <a:srgbClr val="5B2D8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080760" y="1005840"/>
            <a:ext cx="2697480" cy="45720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30" name="Text 28"/>
          <p:cNvSpPr/>
          <p:nvPr/>
        </p:nvSpPr>
        <p:spPr>
          <a:xfrm>
            <a:off x="6172200" y="105156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Summarization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172200" y="1536192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la history è lunga, chiedi a Claude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riassumerla in pochi token.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il riassunto come contesto.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172200" y="2606040"/>
            <a:ext cx="2514600" cy="548640"/>
          </a:xfrm>
          <a:prstGeom prst="rect">
            <a:avLst/>
          </a:prstGeom>
          <a:solidFill>
            <a:srgbClr val="1E2A38"/>
          </a:solidFill>
          <a:ln/>
        </p:spPr>
      </p:sp>
      <p:sp>
        <p:nvSpPr>
          <p:cNvPr id="33" name="Text 31"/>
          <p:cNvSpPr/>
          <p:nvPr/>
        </p:nvSpPr>
        <p:spPr>
          <a:xfrm>
            <a:off x="6217920" y="265176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= "Riassumi questa chat: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217920" y="2898648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storia: {history_completa}"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172200" y="324612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Mantiene l'essenza di tutta la conversazione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172200" y="352044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Più complesso, richiede una chiamata extra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172200" y="3840480"/>
            <a:ext cx="274320" cy="27432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38" name="Text 36"/>
          <p:cNvSpPr/>
          <p:nvPr/>
        </p:nvSpPr>
        <p:spPr>
          <a:xfrm>
            <a:off x="6172200" y="38404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537960" y="3867912"/>
            <a:ext cx="2148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per: sessioni molto lunghe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Memoria Persistente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50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chatbot ricorda tra una sessione e l'altra — salviamo su file JSON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2011680" cy="9144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23444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Sessione 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(lunedì)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423160" y="157276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</a:rPr>
              <a:t>→ salva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234440"/>
            <a:ext cx="2286000" cy="914400"/>
          </a:xfrm>
          <a:prstGeom prst="rect">
            <a:avLst/>
          </a:prstGeom>
          <a:solidFill>
            <a:srgbClr val="0A3A5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7560" y="141732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💾 chat_history.json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37560" y="169164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C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[{role,content}...]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23560" y="157276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</a:rPr>
              <a:t>← carica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92240" y="1234440"/>
            <a:ext cx="2011680" cy="9144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123444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Sessione 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(martedì)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331720"/>
            <a:ext cx="8412480" cy="2743200"/>
          </a:xfrm>
          <a:prstGeom prst="rect">
            <a:avLst/>
          </a:prstGeom>
          <a:solidFill>
            <a:srgbClr val="0A1A2A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423160"/>
            <a:ext cx="82296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pPr indent="0" marL="0">
              <a:buNone/>
            </a:pPr>
            <a:r>
              <a:rPr lang="en-US" sz="1000" dirty="0">
                <a:solidFill>
                  <a:srgbClr val="AAC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json, os
</a:t>
            </a:r>
            <a:pPr indent="0" marL="0">
              <a:buNone/>
            </a:pPr>
            <a:r>
              <a:rPr lang="en-US" sz="1000" dirty="0">
                <a:solidFill>
                  <a:srgbClr val="AAC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MEMORY_FILE = </a:t>
            </a:r>
            <a:pPr indent="0" marL="0">
              <a:buNone/>
            </a:pPr>
            <a:r>
              <a:rPr lang="en-US" sz="10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"chat_history.json"
</a:t>
            </a:r>
            <a:pPr indent="0" marL="0">
              <a:buNone/>
            </a:pPr>
            <a:r>
              <a:rPr lang="en-US" sz="100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pPr indent="0" marL="0">
              <a:buNone/>
            </a:pPr>
            <a:r>
              <a:rPr lang="en-US" sz="1000" dirty="0">
                <a:solidFill>
                  <a:srgbClr val="61A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carica_storia</a:t>
            </a:r>
            <a:pPr indent="0" marL="0">
              <a:buNone/>
            </a:pPr>
            <a:r>
              <a:rPr lang="en-US" sz="1000" dirty="0">
                <a:solidFill>
                  <a:srgbClr val="AAC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():
    if os.path.exists(MEMORY_FILE):
</a:t>
            </a:r>
            <a:pPr indent="0" marL="0">
              <a:buNone/>
            </a:pPr>
            <a:r>
              <a:rPr lang="en-US" sz="100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with </a:t>
            </a:r>
            <a:pPr indent="0" marL="0">
              <a:buNone/>
            </a:pPr>
            <a:r>
              <a:rPr lang="en-US" sz="1000" dirty="0">
                <a:solidFill>
                  <a:srgbClr val="AAC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open(MEMORY_FILE) </a:t>
            </a:r>
            <a:pPr indent="0" marL="0">
              <a:buNone/>
            </a:pPr>
            <a:r>
              <a:rPr lang="en-US" sz="100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 </a:t>
            </a:r>
            <a:pPr indent="0" marL="0">
              <a:buNone/>
            </a:pPr>
            <a:r>
              <a:rPr lang="en-US" sz="1000" dirty="0">
                <a:solidFill>
                  <a:srgbClr val="AAC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f:
</a:t>
            </a:r>
            <a:pPr indent="0" marL="0">
              <a:buNone/>
            </a:pPr>
            <a:r>
              <a:rPr lang="en-US" sz="1000" dirty="0">
                <a:solidFill>
                  <a:srgbClr val="AAC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json.load(f)
</a:t>
            </a:r>
            <a:pPr indent="0" marL="0">
              <a:buNone/>
            </a:pPr>
            <a:r>
              <a:rPr lang="en-US" sz="100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</a:t>
            </a:r>
            <a:pPr indent="0" marL="0">
              <a:buNone/>
            </a:pPr>
            <a:r>
              <a:rPr lang="en-US" sz="10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  # Prima sessione: storia vuota
</a:t>
            </a:r>
            <a:pPr indent="0" marL="0">
              <a:buNone/>
            </a:pPr>
            <a:r>
              <a:rPr lang="en-US" sz="100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pPr indent="0" marL="0">
              <a:buNone/>
            </a:pPr>
            <a:r>
              <a:rPr lang="en-US" sz="1000" dirty="0">
                <a:solidFill>
                  <a:srgbClr val="61A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salva_storia</a:t>
            </a:r>
            <a:pPr indent="0" marL="0">
              <a:buNone/>
            </a:pPr>
            <a:r>
              <a:rPr lang="en-US" sz="1000" dirty="0">
                <a:solidFill>
                  <a:srgbClr val="AAC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(history):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AC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with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1A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</a:t>
            </a:r>
            <a:pPr indent="0" marL="0">
              <a:buNone/>
            </a:pPr>
            <a:r>
              <a:rPr lang="en-US" sz="1000" dirty="0">
                <a:solidFill>
                  <a:srgbClr val="AAC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(MEMORY_FILE, </a:t>
            </a:r>
            <a:pPr indent="0" marL="0">
              <a:buNone/>
            </a:pPr>
            <a:r>
              <a:rPr lang="en-US" sz="10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"w"</a:t>
            </a:r>
            <a:pPr indent="0" marL="0">
              <a:buNone/>
            </a:pPr>
            <a:r>
              <a:rPr lang="en-US" sz="1000" dirty="0">
                <a:solidFill>
                  <a:srgbClr val="AAC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as f: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AC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json.dump(history, f, ensure_ascii=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indent="0" marL="0">
              <a:buNone/>
            </a:pPr>
            <a:r>
              <a:rPr lang="en-US" sz="1000" dirty="0">
                <a:solidFill>
                  <a:srgbClr val="AAC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indent=</a:t>
            </a:r>
            <a:pPr indent="0" marL="0">
              <a:buNone/>
            </a:pPr>
            <a:r>
              <a:rPr lang="en-US" sz="10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buNone/>
            </a:pPr>
            <a:r>
              <a:rPr lang="en-US" sz="1000" dirty="0">
                <a:solidFill>
                  <a:srgbClr val="AAC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Streaming — output in tempo reale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8C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Perché lo streaming non è solo estetico — Huyen Cap. 10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114800" cy="3749040"/>
          </a:xfrm>
          <a:prstGeom prst="rect">
            <a:avLst/>
          </a:prstGeom>
          <a:solidFill>
            <a:srgbClr val="FFF0F0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4114800" cy="4114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4300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Senza streaming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L'utente aspetta 5-10 secondi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nella speranza che qualcosa succeda.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Percepisce il sistema come 'lento' o 'rotto'.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487168"/>
            <a:ext cx="3931920" cy="1005840"/>
          </a:xfrm>
          <a:prstGeom prst="rect">
            <a:avLst/>
          </a:prstGeom>
          <a:solidFill>
            <a:srgbClr val="1E2A38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54203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 = client.messages.create(...)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284378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print(resp.content[0].text)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314553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Silenzio per 5 secondi, poi tutto in una volta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54880" y="1097280"/>
            <a:ext cx="4114800" cy="3749040"/>
          </a:xfrm>
          <a:prstGeom prst="rect">
            <a:avLst/>
          </a:prstGeom>
          <a:solidFill>
            <a:srgbClr val="F0FFF4"/>
          </a:solidFill>
          <a:ln w="12700">
            <a:solidFill>
              <a:srgbClr val="16653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097280"/>
            <a:ext cx="4114800" cy="411480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14300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Con streaming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160020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parole appaiono una alla volta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mentre vengono generate.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Latenza percepita quasi zero.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2487168"/>
            <a:ext cx="3931920" cy="1005840"/>
          </a:xfrm>
          <a:prstGeom prst="rect">
            <a:avLst/>
          </a:prstGeom>
          <a:solidFill>
            <a:srgbClr val="1E2A38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254203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client.messages.stream(...) as stream: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92040" y="284378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text in stream.text_stream: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92040" y="314553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print(text, end='', flush=True)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4617720"/>
            <a:ext cx="8412480" cy="3657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645152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Regola pratica: usa sempre lo streaming in qualsiasi chatbot che mostrerai a un utente. È la differenza tra 'funziona' e 'sembra professionale'.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Contare i Token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8C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Monitorare l'uso per ottimizzare i costi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5120640" cy="2560320"/>
          </a:xfrm>
          <a:prstGeom prst="rect">
            <a:avLst/>
          </a:prstGeom>
          <a:solidFill>
            <a:srgbClr val="1E2A3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188720"/>
            <a:ext cx="49377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63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Conta PRIMA di inviare (Token Counting API)
</a:t>
            </a:r>
            <a:pPr indent="0" marL="0">
              <a:buNone/>
            </a:pPr>
            <a:r>
              <a:rPr lang="en-US" sz="950" dirty="0">
                <a:solidFill>
                  <a:srgbClr val="AAC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 = client.messages.count_tokens(
</a:t>
            </a:r>
            <a:pPr indent="0" marL="0">
              <a:buNone/>
            </a:pPr>
            <a:r>
              <a:rPr lang="en-US" sz="950" dirty="0">
                <a:solidFill>
                  <a:srgbClr val="AAC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model=</a:t>
            </a:r>
            <a:pPr indent="0" marL="0">
              <a:buNone/>
            </a:pPr>
            <a:r>
              <a:rPr lang="en-US" sz="95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"claude-haiku-4-5-20251001"</a:t>
            </a:r>
            <a:pPr indent="0" marL="0">
              <a:buNone/>
            </a:pPr>
            <a:r>
              <a:rPr lang="en-US" sz="950" dirty="0">
                <a:solidFill>
                  <a:srgbClr val="AAC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    messages=history
)
</a:t>
            </a:r>
            <a:pPr indent="0" marL="0">
              <a:buNone/>
            </a:pPr>
            <a:r>
              <a:rPr lang="en-US" sz="95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print(f"Token da inviare: {count.input_tokens}")
</a:t>
            </a:r>
            <a:pPr indent="0" marL="0">
              <a:buNone/>
            </a:pPr>
            <a:r>
              <a:rPr lang="en-US" sz="950" dirty="0">
                <a:solidFill>
                  <a:srgbClr val="5C63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Conta DOPO dalla risposta
</a:t>
            </a:r>
            <a:pPr indent="0" marL="0">
              <a:buNone/>
            </a:pPr>
            <a:r>
              <a:rPr lang="en-US" sz="950" dirty="0">
                <a:solidFill>
                  <a:srgbClr val="AAC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 = client.messages.create(...)
</a:t>
            </a:r>
            <a:pPr indent="0" marL="0">
              <a:buNone/>
            </a:pPr>
            <a:r>
              <a:rPr lang="en-US" sz="95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print(f"Input: {resp.usage.input_tokens}")
</a:t>
            </a:r>
            <a:pPr indent="0" marL="0">
              <a:buNone/>
            </a:pPr>
            <a:r>
              <a:rPr lang="en-US" sz="95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print(f"Output: {resp.usage.output_tokens}")
</a:t>
            </a:r>
            <a:pPr indent="0" marL="0">
              <a:buNone/>
            </a:pPr>
            <a:r>
              <a:rPr lang="en-US" sz="95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cost = (resp.usage.input_tokens/1e6 * 1.0 +
</a:t>
            </a:r>
            <a:pPr indent="0" marL="0">
              <a:buNone/>
            </a:pPr>
            <a:r>
              <a:rPr lang="en-US" sz="95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resp.usage.output_tokens/1e6 * 5.0)
</a:t>
            </a:r>
            <a:pPr indent="0" marL="0">
              <a:buNone/>
            </a:pPr>
            <a:r>
              <a:rPr lang="en-US" sz="95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print(f"Costo stimato: ${cost:.6f}")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0" y="1097280"/>
            <a:ext cx="1463040" cy="1234440"/>
          </a:xfrm>
          <a:prstGeom prst="rect">
            <a:avLst/>
          </a:prstGeom>
          <a:solidFill>
            <a:srgbClr val="F0F4F8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69280" y="11887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📥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715000" y="16002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Haiku input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715000" y="184708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$1.00 / 1M token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223760" y="1097280"/>
            <a:ext cx="1463040" cy="1234440"/>
          </a:xfrm>
          <a:prstGeom prst="rect">
            <a:avLst/>
          </a:prstGeom>
          <a:solidFill>
            <a:srgbClr val="F0F4F8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223760" y="11887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📤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269480" y="16002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Haiku output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269480" y="184708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$5.00 / 1M token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69280" y="2468880"/>
            <a:ext cx="1463040" cy="1234440"/>
          </a:xfrm>
          <a:prstGeom prst="rect">
            <a:avLst/>
          </a:prstGeom>
          <a:solidFill>
            <a:srgbClr val="F0F4F8"/>
          </a:solidFill>
          <a:ln w="12700">
            <a:solidFill>
              <a:srgbClr val="16653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669280" y="25603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📚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715000" y="29718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lezione completa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715000" y="321868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~$0.03–0.05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223760" y="2468880"/>
            <a:ext cx="1463040" cy="1234440"/>
          </a:xfrm>
          <a:prstGeom prst="rect">
            <a:avLst/>
          </a:prstGeom>
          <a:solidFill>
            <a:srgbClr val="F0F4F8"/>
          </a:solidFill>
          <a:ln w="12700">
            <a:solidFill>
              <a:srgbClr val="E877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223760" y="25603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🎓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269480" y="29718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lezioni totali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269480" y="321868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~$0.20–0.30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794760"/>
            <a:ext cx="8412480" cy="1051560"/>
          </a:xfrm>
          <a:prstGeom prst="rect">
            <a:avLst/>
          </a:prstGeom>
          <a:solidFill>
            <a:srgbClr val="EDE7F6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8862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KV Cache — risparmia token automaticamente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187952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il system prompt è identico tra chiamate consecutive, Anthropic lo serve dalla cache al 10% del costo normale. Con system prompt lunghi il risparmio è significativo.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3A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💻 Laboratorio — Esercizi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Obiettivo: costruire il chatbot CLI con memoria persistente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4114800" cy="1645920"/>
          </a:xfrm>
          <a:prstGeom prst="rect">
            <a:avLst/>
          </a:prstGeom>
          <a:solidFill>
            <a:srgbClr val="0F2D45"/>
          </a:solidFill>
          <a:ln w="12700">
            <a:solidFill>
              <a:srgbClr val="1C5A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24128" y="134416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multi-turno base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24128" y="164592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★☆☆  Base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5488" y="192024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CLI che mantiene la history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durante la sessione.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 a fare domande collegate.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234440"/>
            <a:ext cx="4114800" cy="1645920"/>
          </a:xfrm>
          <a:prstGeom prst="rect">
            <a:avLst/>
          </a:prstGeom>
          <a:solidFill>
            <a:srgbClr val="0F2D45"/>
          </a:solidFill>
          <a:ln w="12700">
            <a:solidFill>
              <a:srgbClr val="1C5A7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371600"/>
            <a:ext cx="457200" cy="457200"/>
          </a:xfrm>
          <a:prstGeom prst="ellipse">
            <a:avLst/>
          </a:prstGeom>
          <a:solidFill>
            <a:srgbClr val="E87722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13248" y="134416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Troncamento automatico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13248" y="164592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★★☆  Intermedio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64608" y="192024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Aggiungi troncamento: se la history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supera 10 messaggi, taglia i più vecchi.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che funzioni ancora.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017520"/>
            <a:ext cx="4114800" cy="1645920"/>
          </a:xfrm>
          <a:prstGeom prst="rect">
            <a:avLst/>
          </a:prstGeom>
          <a:solidFill>
            <a:srgbClr val="0F2D45"/>
          </a:solidFill>
          <a:ln w="12700">
            <a:solidFill>
              <a:srgbClr val="1C5A7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154680"/>
            <a:ext cx="457200" cy="457200"/>
          </a:xfrm>
          <a:prstGeom prst="ellipse">
            <a:avLst/>
          </a:prstGeom>
          <a:solidFill>
            <a:srgbClr val="E87722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24128" y="312724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nel terminale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24128" y="342900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★★☆  Intermedio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5488" y="370332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Sostituisci la chiamata normale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lo streaming.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parole devono apparire una alla volta.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3017520"/>
            <a:ext cx="4114800" cy="1645920"/>
          </a:xfrm>
          <a:prstGeom prst="rect">
            <a:avLst/>
          </a:prstGeom>
          <a:solidFill>
            <a:srgbClr val="0F2D45"/>
          </a:solidFill>
          <a:ln w="12700">
            <a:solidFill>
              <a:srgbClr val="1C5A7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3154680"/>
            <a:ext cx="457200" cy="457200"/>
          </a:xfrm>
          <a:prstGeom prst="ellipse">
            <a:avLst/>
          </a:prstGeom>
          <a:solidFill>
            <a:srgbClr val="5B2D8E"/>
          </a:solidFill>
          <a:ln/>
        </p:spPr>
      </p:sp>
      <p:sp>
        <p:nvSpPr>
          <p:cNvPr id="24" name="Text 22"/>
          <p:cNvSpPr/>
          <p:nvPr/>
        </p:nvSpPr>
        <p:spPr>
          <a:xfrm>
            <a:off x="484632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13248" y="312724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 persistente (Deliverable)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13248" y="342900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  Deliverable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64608" y="370332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 e ricarica la history su JSON.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Chiudi e riapri lo script: il chatbot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 ricordare la conversazione precedente.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Wrap-up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4023360" cy="3749040"/>
          </a:xfrm>
          <a:prstGeom prst="rect">
            <a:avLst/>
          </a:prstGeom>
          <a:solidFill>
            <a:srgbClr val="0A3A5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972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Cosa hai imparato oggi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window: il modello vede solo quello che c'è dentro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183794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history: lista di messaggi role/content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0080" y="216712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Truncation e sliding window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80" y="249631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 persistente su file JSON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0080" y="282549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Streaming: output token per token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0080" y="315468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Contare i token e stimare i costi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348386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 Cache: risparmio automatico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54880" y="1005840"/>
            <a:ext cx="4023360" cy="1828800"/>
          </a:xfrm>
          <a:prstGeom prst="rect">
            <a:avLst/>
          </a:prstGeom>
          <a:solidFill>
            <a:srgbClr val="E8772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46320" y="107899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Deliverable da consegnare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1444752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chatbot_cli.py con: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History multi-turno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Streaming attivo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Memoria su JSON persistente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Pushato su GitHub in lezione3/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2971800"/>
            <a:ext cx="4023360" cy="1828800"/>
          </a:xfrm>
          <a:prstGeom prst="rect">
            <a:avLst/>
          </a:prstGeom>
          <a:solidFill>
            <a:srgbClr val="5B2D8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0" y="304495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Prima della Lezione 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0" y="3410712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Leggi Huyen Cap. 6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D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sezione RAG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D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Giovedì 28/05 insegniamo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D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chatbot a leggere documenti! 📚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Engineering — Lezione 3: Conversazione &amp; Memoria</dc:title>
  <dc:subject>PptxGenJS Presentation</dc:subject>
  <dc:creator>Marco Uras</dc:creator>
  <cp:lastModifiedBy>Marco Uras</cp:lastModifiedBy>
  <cp:revision>1</cp:revision>
  <dcterms:created xsi:type="dcterms:W3CDTF">2026-05-06T15:54:44Z</dcterms:created>
  <dcterms:modified xsi:type="dcterms:W3CDTF">2026-05-06T15:54:44Z</dcterms:modified>
</cp:coreProperties>
</file>