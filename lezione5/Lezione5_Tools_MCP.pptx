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RGBxMuw65wvSU9EbmQNX/ecYe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48640" y="36576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 Black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1371600"/>
            <a:ext cx="68580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Tools &amp;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Function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Calling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&amp; MCP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37490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AI Engineering — Lezione 5 di 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416052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CCFF"/>
                </a:solidFill>
                <a:latin typeface="Calibri"/>
                <a:ea typeface="Calibri"/>
                <a:cs typeface="Calibri"/>
                <a:sym typeface="Calibri"/>
              </a:rPr>
              <a:t>📅  Giovedì 04/06/2026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CCFF"/>
                </a:solidFill>
                <a:latin typeface="Calibri"/>
                <a:ea typeface="Calibri"/>
                <a:cs typeface="Calibri"/>
                <a:sym typeface="Calibri"/>
              </a:rPr>
              <a:t>⏱  5 ore  •  Monte ore: 25/30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CCFF"/>
                </a:solidFill>
                <a:latin typeface="Calibri"/>
                <a:ea typeface="Calibri"/>
                <a:cs typeface="Calibri"/>
                <a:sym typeface="Calibri"/>
              </a:rPr>
              <a:t>📖  Huyen Cap. 6 — sezione Agents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C729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E8772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Cosa facciamo oggi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914400"/>
            <a:ext cx="64008" cy="3474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228600" y="1005840"/>
            <a:ext cx="201168" cy="201168"/>
          </a:xfrm>
          <a:prstGeom prst="ellipse">
            <a:avLst/>
          </a:prstGeom>
          <a:solidFill>
            <a:srgbClr val="6B8C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02920" y="9601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09:00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463040" y="9418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Recap L4 + presentazioni gruppi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463040" y="11887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15 min recap, poi 3 × 10 min presentazioni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28600" y="1691640"/>
            <a:ext cx="201168" cy="20116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02920" y="16459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09:45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463040" y="16276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Dal testo all'azione — il loop agente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463040" y="18745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Come il modello decide cosa fare — Huyen Cap.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28600" y="2377440"/>
            <a:ext cx="201168" cy="20116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02920" y="23317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10:15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463040" y="23134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Tool use con l'API Anthropic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463040" y="25603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Definizione JSON, chiamata, risultato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28600" y="3063240"/>
            <a:ext cx="201168" cy="201168"/>
          </a:xfrm>
          <a:prstGeom prst="ellipse">
            <a:avLst/>
          </a:prstGeom>
          <a:solidFill>
            <a:srgbClr val="5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02920" y="30175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11:00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463040" y="29992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MCP — Model Context Protocol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463040" y="32461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Lo standard aperto per connettere tool ai modelli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28600" y="3749040"/>
            <a:ext cx="201168" cy="201168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02920" y="37033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11:30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463040" y="36850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Laboratorio + presentazioni gruppi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463040" y="39319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3 tool + 1 connessione MCP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400800" y="914400"/>
            <a:ext cx="2468880" cy="347472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6492240" y="10515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🎯 Deliverable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492240" y="141732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Chatbot con 3 tool integrati + 1 connessione MCP funzionante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492240" y="320040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📖 Huyen Cap.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sezione Agents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7293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Il Loop Agente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Il chatbot smette di rispondere — inizia ad agire — Huyen Cap. 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3"/>
          <p:cNvCxnSpPr/>
          <p:nvPr/>
        </p:nvCxnSpPr>
        <p:spPr>
          <a:xfrm>
            <a:off x="5029200" y="1554480"/>
            <a:ext cx="1371600" cy="64008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3"/>
          <p:cNvCxnSpPr/>
          <p:nvPr/>
        </p:nvCxnSpPr>
        <p:spPr>
          <a:xfrm>
            <a:off x="6400800" y="2834640"/>
            <a:ext cx="457200" cy="100584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3"/>
          <p:cNvCxnSpPr/>
          <p:nvPr/>
        </p:nvCxnSpPr>
        <p:spPr>
          <a:xfrm>
            <a:off x="4114800" y="4160520"/>
            <a:ext cx="1188720" cy="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3"/>
          <p:cNvCxnSpPr/>
          <p:nvPr/>
        </p:nvCxnSpPr>
        <p:spPr>
          <a:xfrm>
            <a:off x="2743200" y="2834640"/>
            <a:ext cx="0" cy="100584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3"/>
          <p:cNvCxnSpPr/>
          <p:nvPr/>
        </p:nvCxnSpPr>
        <p:spPr>
          <a:xfrm flipH="1" rot="10800000">
            <a:off x="2743200" y="2194560"/>
            <a:ext cx="1371600" cy="64008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3"/>
          <p:cNvSpPr/>
          <p:nvPr/>
        </p:nvSpPr>
        <p:spPr>
          <a:xfrm>
            <a:off x="3474720" y="1097280"/>
            <a:ext cx="2011680" cy="1005840"/>
          </a:xfrm>
          <a:prstGeom prst="rect">
            <a:avLst/>
          </a:prstGeom>
          <a:solidFill>
            <a:srgbClr val="0A5A3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474720" y="1097280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3474720" y="10972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3A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931920" y="114300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PERCEZIONE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474720" y="15087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Legge il messaggio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dell'utente e il contesto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943600" y="2194560"/>
            <a:ext cx="2011680" cy="1005840"/>
          </a:xfrm>
          <a:prstGeom prst="rect">
            <a:avLst/>
          </a:prstGeom>
          <a:solidFill>
            <a:srgbClr val="0A3A6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5943600" y="2194560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5943600" y="21945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3A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400800" y="224028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RAGIONAMENTO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943600" y="260604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Decide se rispondere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o chiamare un tool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846320" y="3840480"/>
            <a:ext cx="2011680" cy="1005840"/>
          </a:xfrm>
          <a:prstGeom prst="rect">
            <a:avLst/>
          </a:prstGeom>
          <a:solidFill>
            <a:srgbClr val="5A0A3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4846320" y="3840480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4846320" y="38404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3A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303520" y="388620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AZIONE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846320" y="42519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Chiama il tool con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i parametri scelti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828800" y="3840480"/>
            <a:ext cx="2011680" cy="1005840"/>
          </a:xfrm>
          <a:prstGeom prst="rect">
            <a:avLst/>
          </a:prstGeom>
          <a:solidFill>
            <a:srgbClr val="3A3A0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1828800" y="3840480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1828800" y="38404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3A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286000" y="388620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OSSERVAZIONE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828800" y="42519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Riceve il risultato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del tool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474720" y="2286000"/>
            <a:ext cx="1828800" cy="914400"/>
          </a:xfrm>
          <a:prstGeom prst="ellipse">
            <a:avLst/>
          </a:prstGeom>
          <a:solidFill>
            <a:srgbClr val="0A2A3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3474720" y="22860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LOOP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FINO ALLA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RISPOSTA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0A3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⚠️  Il modello NON esegue i tool — decide quale chiamare. Il tuo codice Python li esegue e rimanda il risultato.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Definire un Tool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57200" y="7863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Il modello capisce cosa fare leggendo il JSON del tool — la documentazione è fondamentale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65750" y="1097275"/>
            <a:ext cx="5120700" cy="3951000"/>
          </a:xfrm>
          <a:prstGeom prst="rect">
            <a:avLst/>
          </a:prstGeom>
          <a:solidFill>
            <a:srgbClr val="1E2A3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502920" y="1188720"/>
            <a:ext cx="49377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tool_meteo = {</a:t>
            </a:r>
            <a:b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"name": </a:t>
            </a:r>
            <a:r>
              <a:rPr b="0" i="0" lang="en-US" sz="100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"get_meteo"</a:t>
            </a: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"description": </a:t>
            </a:r>
            <a:r>
              <a:rPr b="0" i="0" lang="en-US" sz="100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"Ottieni il meteo attuale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C37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     per una città italiana."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"input_schema":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"type": "object"</a:t>
            </a: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"properties":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"citta"</a:t>
            </a: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: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"type": "string"</a:t>
            </a: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"description"</a:t>
            </a: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: "Nome della città"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},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9A6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"required": ["citta"]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4"/>
          <p:cNvCxnSpPr/>
          <p:nvPr/>
        </p:nvCxnSpPr>
        <p:spPr>
          <a:xfrm>
            <a:off x="5504688" y="1395046"/>
            <a:ext cx="320100" cy="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0" name="Google Shape;100;p4"/>
          <p:cNvSpPr/>
          <p:nvPr/>
        </p:nvSpPr>
        <p:spPr>
          <a:xfrm>
            <a:off x="5852160" y="1010998"/>
            <a:ext cx="2971800" cy="914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5943600" y="1075006"/>
            <a:ext cx="278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943600" y="1376758"/>
            <a:ext cx="2788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Nome della funzione Python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che eseguirà il tool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4"/>
          <p:cNvCxnSpPr/>
          <p:nvPr/>
        </p:nvCxnSpPr>
        <p:spPr>
          <a:xfrm>
            <a:off x="5504688" y="2148840"/>
            <a:ext cx="320100" cy="0"/>
          </a:xfrm>
          <a:prstGeom prst="straightConnector1">
            <a:avLst/>
          </a:prstGeom>
          <a:noFill/>
          <a:ln cap="flat" cmpd="sng" w="12700">
            <a:solidFill>
              <a:srgbClr val="E8772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4" name="Google Shape;104;p4"/>
          <p:cNvSpPr/>
          <p:nvPr/>
        </p:nvSpPr>
        <p:spPr>
          <a:xfrm>
            <a:off x="5852160" y="1764792"/>
            <a:ext cx="2971800" cy="914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5943600" y="1828800"/>
            <a:ext cx="278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E87722"/>
                </a:solidFill>
                <a:latin typeface="Consolas"/>
                <a:ea typeface="Consolas"/>
                <a:cs typeface="Consolas"/>
                <a:sym typeface="Consolas"/>
              </a:rPr>
              <a:t>description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943600" y="2130552"/>
            <a:ext cx="2788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Il modello legge questo per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decidere quando usarlo</a:t>
            </a:r>
            <a:r>
              <a:rPr lang="en-US" sz="100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 sii preciso!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4"/>
          <p:cNvCxnSpPr/>
          <p:nvPr/>
        </p:nvCxnSpPr>
        <p:spPr>
          <a:xfrm>
            <a:off x="5504688" y="3321734"/>
            <a:ext cx="320100" cy="0"/>
          </a:xfrm>
          <a:prstGeom prst="straightConnector1">
            <a:avLst/>
          </a:prstGeom>
          <a:noFill/>
          <a:ln cap="flat" cmpd="sng" w="12700">
            <a:solidFill>
              <a:srgbClr val="5B2D8E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8" name="Google Shape;108;p4"/>
          <p:cNvSpPr/>
          <p:nvPr/>
        </p:nvSpPr>
        <p:spPr>
          <a:xfrm>
            <a:off x="5852160" y="2937686"/>
            <a:ext cx="2971800" cy="914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5B2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943600" y="3001694"/>
            <a:ext cx="278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5B2D8E"/>
                </a:solidFill>
                <a:latin typeface="Consolas"/>
                <a:ea typeface="Consolas"/>
                <a:cs typeface="Consolas"/>
                <a:sym typeface="Consolas"/>
              </a:rPr>
              <a:t>input_schema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943600" y="3303446"/>
            <a:ext cx="2788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Parametri in formato JSON Schema.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Il modello li valorizza da solo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5504688" y="4382379"/>
            <a:ext cx="320100" cy="0"/>
          </a:xfrm>
          <a:prstGeom prst="straightConnector1">
            <a:avLst/>
          </a:prstGeom>
          <a:noFill/>
          <a:ln cap="flat" cmpd="sng" w="12700">
            <a:solidFill>
              <a:srgbClr val="16653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5852160" y="3998331"/>
            <a:ext cx="2971800" cy="914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5943600" y="4062339"/>
            <a:ext cx="278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66534"/>
                </a:solidFill>
                <a:latin typeface="Consolas"/>
                <a:ea typeface="Consolas"/>
                <a:cs typeface="Consolas"/>
                <a:sym typeface="Consolas"/>
              </a:rPr>
              <a:t>required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943600" y="4364091"/>
            <a:ext cx="2788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Parametri obbligatori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se mancano il modello li chiede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Il Tool Loop in codice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Il ciclo completo: invio → decisione → esecuzione → risultato → risposta finale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65760" y="1143000"/>
            <a:ext cx="5120640" cy="3749040"/>
          </a:xfrm>
          <a:prstGeom prst="rect">
            <a:avLst/>
          </a:prstGeom>
          <a:solidFill>
            <a:srgbClr val="0A1A2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502920" y="1234440"/>
            <a:ext cx="493776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b="0" i="0" lang="en-US" sz="95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esegui_tool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(nome, parametri):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9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    if 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nome == </a:t>
            </a: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"get_meteo"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return get_meteo(parametri[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"citta"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# aggiungi altri tool qui...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9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b="0" i="0" lang="en-US" sz="95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chat_con_tool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(messaggio):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response = client.messages.create(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model=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"claude-haiku-4-5-20251001"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tools=[tool_meteo, tool_calc],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messages=[{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"role"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:"user",</a:t>
            </a: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:messaggio}]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while 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response.stop_reason == </a:t>
            </a: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"tool_use"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tool_use = [b for b in response.content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            if b.type ==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"tool_use"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][0]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risultato = esegui_tool(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    tool_use.name, tool_use.input)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# rimanda risultato al modello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...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return response.content[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9A6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].text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5"/>
          <p:cNvCxnSpPr/>
          <p:nvPr/>
        </p:nvCxnSpPr>
        <p:spPr>
          <a:xfrm>
            <a:off x="5504688" y="173736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5" name="Google Shape;125;p5"/>
          <p:cNvSpPr/>
          <p:nvPr/>
        </p:nvSpPr>
        <p:spPr>
          <a:xfrm>
            <a:off x="5852160" y="1325880"/>
            <a:ext cx="2971800" cy="1005840"/>
          </a:xfrm>
          <a:prstGeom prst="rect">
            <a:avLst/>
          </a:prstGeom>
          <a:solidFill>
            <a:srgbClr val="0A3040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5943600" y="1389888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1️⃣ Router dei tool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943600" y="1691640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Smista la chiamata alla funzione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giusta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5"/>
          <p:cNvCxnSpPr/>
          <p:nvPr/>
        </p:nvCxnSpPr>
        <p:spPr>
          <a:xfrm>
            <a:off x="5504688" y="265176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E8772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9" name="Google Shape;129;p5"/>
          <p:cNvSpPr/>
          <p:nvPr/>
        </p:nvSpPr>
        <p:spPr>
          <a:xfrm>
            <a:off x="5852160" y="2240280"/>
            <a:ext cx="2971800" cy="1005840"/>
          </a:xfrm>
          <a:prstGeom prst="rect">
            <a:avLst/>
          </a:prstGeom>
          <a:solidFill>
            <a:srgbClr val="0A3040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5943600" y="2304288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2️⃣ Invia con tools=[]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943600" y="2606040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Passa la lista dei tool disponibili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sceglie se usarli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5"/>
          <p:cNvCxnSpPr/>
          <p:nvPr/>
        </p:nvCxnSpPr>
        <p:spPr>
          <a:xfrm>
            <a:off x="5504688" y="347472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5B2D8E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3" name="Google Shape;133;p5"/>
          <p:cNvSpPr/>
          <p:nvPr/>
        </p:nvSpPr>
        <p:spPr>
          <a:xfrm>
            <a:off x="5852160" y="3063240"/>
            <a:ext cx="2971800" cy="1005840"/>
          </a:xfrm>
          <a:prstGeom prst="rect">
            <a:avLst/>
          </a:prstGeom>
          <a:solidFill>
            <a:srgbClr val="0A3040"/>
          </a:solidFill>
          <a:ln cap="flat" cmpd="sng" w="12700">
            <a:solidFill>
              <a:srgbClr val="5B2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5943600" y="3127248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3️⃣ Loop tool_use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943600" y="3429000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Finché il modello chiede tool,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eseguili e rimanda i risultati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Sicurezza &amp; Minimal Footprint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57200" y="7863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Con più autonomia arriva più responsabilità — Huyen Cap. 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320040" y="1051560"/>
            <a:ext cx="2697480" cy="2286000"/>
          </a:xfrm>
          <a:prstGeom prst="rect">
            <a:avLst/>
          </a:prstGeom>
          <a:solidFill>
            <a:srgbClr val="F0FFF4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320040" y="1051560"/>
            <a:ext cx="2697480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411480" y="10972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🐛 CRAWL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11480" y="1536192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Tool di sola lettura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11480" y="1901952"/>
            <a:ext cx="2514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Meteo, Wikipedia, calcoli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Nessuna azione irreversibile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Rischio: quasi zero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3200400" y="1051560"/>
            <a:ext cx="2697480" cy="228600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3200400" y="1051560"/>
            <a:ext cx="269748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3291840" y="10972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🚶 WALK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291840" y="1536192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Tool con scrittura limitata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291840" y="1901952"/>
            <a:ext cx="2514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Invia email (con conferma)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Crea file, aggiorna 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Rischio: basso, reversibile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6080760" y="1051560"/>
            <a:ext cx="2697480" cy="228600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6080760" y="1051560"/>
            <a:ext cx="269748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6172200" y="10972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🏃 RUN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172200" y="1536192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Tool con azioni critiche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172200" y="1901952"/>
            <a:ext cx="2514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Pagamenti, cancellazioni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Comandi di sistema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Rischio: alto, irreversibile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20040" y="3474720"/>
            <a:ext cx="4114800" cy="65836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411480" y="352958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🔒  Minimal Footprint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1828800" y="3529584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Dai al sistema solo i permessi strettamente necessari. Un tool che legge file non deve anche poterli cancellare.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663440" y="3474720"/>
            <a:ext cx="4114800" cy="65836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4754880" y="352958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✅  Conferma umana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172200" y="3529584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Per azioni irreversibili (pagamenti, email, cancellazioni) aggiungi sempre un passaggio di conferma dall'utente.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20040" y="4224528"/>
            <a:ext cx="4114800" cy="65836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411480" y="427939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🛡  Valida l'input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828800" y="4279392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Il modello può essere ingannato da prompt injection. Valida sempre i parametri prima di eseguire il tool.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663440" y="4224528"/>
            <a:ext cx="4114800" cy="65836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4754880" y="427939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📋  Logga tutto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172200" y="4279392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Registra ogni chiamata ai tool con parametri e risultati. Fondamentale per debug e audit.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B2D8E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MCP — Model Context Protocol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Lo standard aperto di Anthropic per connettere modelli AI a tool e dati — 2024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20040" y="1234440"/>
            <a:ext cx="3931920" cy="3566160"/>
          </a:xfrm>
          <a:prstGeom prst="rect">
            <a:avLst/>
          </a:prstGeom>
          <a:solidFill>
            <a:srgbClr val="3A1A5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320040" y="1234440"/>
            <a:ext cx="3931920" cy="4114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11480" y="12801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Prima di MCP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11480" y="1737360"/>
            <a:ext cx="37490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AA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AAAA"/>
                </a:solidFill>
                <a:latin typeface="Calibri"/>
                <a:ea typeface="Calibri"/>
                <a:cs typeface="Calibri"/>
                <a:sym typeface="Calibri"/>
              </a:rPr>
              <a:t>Ogni app AI implementa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AA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AAAA"/>
                </a:solidFill>
                <a:latin typeface="Calibri"/>
                <a:ea typeface="Calibri"/>
                <a:cs typeface="Calibri"/>
                <a:sym typeface="Calibri"/>
              </a:rPr>
              <a:t>manualmente ogni tool: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AA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AAAA"/>
                </a:solidFill>
                <a:latin typeface="Calibri"/>
                <a:ea typeface="Calibri"/>
                <a:cs typeface="Calibri"/>
                <a:sym typeface="Calibri"/>
              </a:rPr>
              <a:t>• App A: scrive tool GitHub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AA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AAAA"/>
                </a:solidFill>
                <a:latin typeface="Calibri"/>
                <a:ea typeface="Calibri"/>
                <a:cs typeface="Calibri"/>
                <a:sym typeface="Calibri"/>
              </a:rPr>
              <a:t>• App B: scrive lo stesso tool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AA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AAAA"/>
                </a:solidFill>
                <a:latin typeface="Calibri"/>
                <a:ea typeface="Calibri"/>
                <a:cs typeface="Calibri"/>
                <a:sym typeface="Calibri"/>
              </a:rPr>
              <a:t>• App C: scrive ancora lo stesso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AA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AAAA"/>
                </a:solidFill>
                <a:latin typeface="Calibri"/>
                <a:ea typeface="Calibri"/>
                <a:cs typeface="Calibri"/>
                <a:sym typeface="Calibri"/>
              </a:rPr>
              <a:t>Nessuno standard.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AA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AAAA"/>
                </a:solidFill>
                <a:latin typeface="Calibri"/>
                <a:ea typeface="Calibri"/>
                <a:cs typeface="Calibri"/>
                <a:sym typeface="Calibri"/>
              </a:rPr>
              <a:t>Tutto da rifare per ogni app.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709160" y="1234440"/>
            <a:ext cx="3931920" cy="3566160"/>
          </a:xfrm>
          <a:prstGeom prst="rect">
            <a:avLst/>
          </a:prstGeom>
          <a:solidFill>
            <a:srgbClr val="1A2A4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4709160" y="1234440"/>
            <a:ext cx="3931920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4800600" y="12801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Con MCP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800600" y="1737360"/>
            <a:ext cx="37490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FF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FFCC"/>
                </a:solidFill>
                <a:latin typeface="Calibri"/>
                <a:ea typeface="Calibri"/>
                <a:cs typeface="Calibri"/>
                <a:sym typeface="Calibri"/>
              </a:rPr>
              <a:t>Un MCP Server espone tool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FF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FFCC"/>
                </a:solidFill>
                <a:latin typeface="Calibri"/>
                <a:ea typeface="Calibri"/>
                <a:cs typeface="Calibri"/>
                <a:sym typeface="Calibri"/>
              </a:rPr>
              <a:t>seguendo lo standard: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FF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FFCC"/>
                </a:solidFill>
                <a:latin typeface="Calibri"/>
                <a:ea typeface="Calibri"/>
                <a:cs typeface="Calibri"/>
                <a:sym typeface="Calibri"/>
              </a:rPr>
              <a:t>• Server GitHub (MCP): scritto una volta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FF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FFCC"/>
                </a:solidFill>
                <a:latin typeface="Calibri"/>
                <a:ea typeface="Calibri"/>
                <a:cs typeface="Calibri"/>
                <a:sym typeface="Calibri"/>
              </a:rPr>
              <a:t>• Funziona con Claude, GPT, Gemini...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FF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FFCC"/>
                </a:solidFill>
                <a:latin typeface="Calibri"/>
                <a:ea typeface="Calibri"/>
                <a:cs typeface="Calibri"/>
                <a:sym typeface="Calibri"/>
              </a:rPr>
              <a:t>• Funziona con qualsiasi app MCP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FF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FFCC"/>
                </a:solidFill>
                <a:latin typeface="Calibri"/>
                <a:ea typeface="Calibri"/>
                <a:cs typeface="Calibri"/>
                <a:sym typeface="Calibri"/>
              </a:rPr>
              <a:t>Uno standard → molte app.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FF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FFCC"/>
                </a:solidFill>
                <a:latin typeface="Calibri"/>
                <a:ea typeface="Calibri"/>
                <a:cs typeface="Calibri"/>
                <a:sym typeface="Calibri"/>
              </a:rPr>
              <a:t>Ecosistema condiviso.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solidFill>
            <a:srgbClr val="2A0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411480" y="4846320"/>
            <a:ext cx="8321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💡  Analogia: MCP è per i tool AI quello che HTTP è per le API web — uno standard comune che fa parlare tutti.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5B2D8E"/>
                </a:solidFill>
                <a:latin typeface="Arial Black"/>
                <a:ea typeface="Arial Black"/>
                <a:cs typeface="Arial Black"/>
                <a:sym typeface="Arial Black"/>
              </a:rPr>
              <a:t>MCP in pratica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57200" y="7863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Server MCP ufficiali già pronti — zero codice extra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20040" y="1051560"/>
            <a:ext cx="2606040" cy="10972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320040" y="114300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📁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914400" y="116128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Filesystem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914400" y="15087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Leggi e scrivi file locali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3154680" y="1051560"/>
            <a:ext cx="2606040" cy="10972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24292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3154680" y="114300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🐙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3749040" y="116128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4292E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3749040" y="15087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Repository, issue, PR, commit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989320" y="1051560"/>
            <a:ext cx="2606040" cy="10972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5989320" y="114300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6583680" y="116128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Brave Search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583680" y="15087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Ricerca web in tempo reale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320040" y="2286000"/>
            <a:ext cx="2606040" cy="10972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320040" y="2377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🗃️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914400" y="239572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914400" y="2743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Query su database locali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3154680" y="2286000"/>
            <a:ext cx="2606040" cy="10972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3154680" y="2377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3749040" y="239572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Google Drive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3749040" y="2743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File, documenti, spreadsheet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5989320" y="2286000"/>
            <a:ext cx="2606040" cy="10972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4A154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5989320" y="2377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583680" y="239572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15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154B"/>
                </a:solidFill>
                <a:latin typeface="Calibri"/>
                <a:ea typeface="Calibri"/>
                <a:cs typeface="Calibri"/>
                <a:sym typeface="Calibri"/>
              </a:rPr>
              <a:t>Slack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6583680" y="2743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Messaggi, canali, workspace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320040" y="3584448"/>
            <a:ext cx="8458200" cy="1417320"/>
          </a:xfrm>
          <a:prstGeom prst="rect">
            <a:avLst/>
          </a:prstGeom>
          <a:solidFill>
            <a:srgbClr val="1E2A3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# Connetti il chatbot a un MCP server (filesystem)</a:t>
            </a:r>
            <a:br>
              <a:rPr b="0" i="0" lang="en-US" sz="10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b="0" i="0" lang="en-US" sz="10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anthropic </a:t>
            </a:r>
            <a:r>
              <a:rPr b="1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b="0" i="0" lang="en-US" sz="10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Anthropic</a:t>
            </a:r>
            <a:br>
              <a:rPr b="0" i="0" lang="en-US" sz="10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# I tool MCP vengono caricati automaticamente dal server</a:t>
            </a:r>
            <a:br>
              <a:rPr b="0" i="0" lang="en-US" sz="10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# Vedi docs.anthropic.com/mcp per la configurazione completa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3A5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💻 Laboratorio — Esercizi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Obiettivo: chatbot con 3 tool personalizzati + 1 connessione MCP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365760" y="1234440"/>
            <a:ext cx="4114800" cy="1645920"/>
          </a:xfrm>
          <a:prstGeom prst="rect">
            <a:avLst/>
          </a:prstGeom>
          <a:solidFill>
            <a:srgbClr val="0F2D45"/>
          </a:solidFill>
          <a:ln cap="flat" cmpd="sng" w="12700">
            <a:solidFill>
              <a:srgbClr val="1C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1024128" y="134416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 calcolatrice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1024128" y="164592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★☆☆  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75488" y="192024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Definisci e integra un tool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che esegue calcoli aritmetici.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Test: 'Quanto fa 234 × 567?'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4754880" y="1234440"/>
            <a:ext cx="4114800" cy="1645920"/>
          </a:xfrm>
          <a:prstGeom prst="rect">
            <a:avLst/>
          </a:prstGeom>
          <a:solidFill>
            <a:srgbClr val="0F2D45"/>
          </a:solidFill>
          <a:ln cap="flat" cmpd="sng" w="12700">
            <a:solidFill>
              <a:srgbClr val="1C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5413248" y="134416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 meteo (API reale)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5413248" y="164592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★★☆  Intermedio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4864608" y="192024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Usa open-meteo.com (gratuito,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nessuna API key).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Test: 'Che tempo fa a Sassari?'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365760" y="3017520"/>
            <a:ext cx="4114800" cy="1645920"/>
          </a:xfrm>
          <a:prstGeom prst="rect">
            <a:avLst/>
          </a:prstGeom>
          <a:solidFill>
            <a:srgbClr val="0F2D45"/>
          </a:solidFill>
          <a:ln cap="flat" cmpd="sng" w="12700">
            <a:solidFill>
              <a:srgbClr val="1C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1024128" y="312724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 Wikipedia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1024128" y="342900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★★☆  Intermedio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475488" y="370332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Cerca su Wikipedia via API.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Test: 'Chi ha fondato Anthropic?'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(senza RAG)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754880" y="3017520"/>
            <a:ext cx="4114800" cy="1645920"/>
          </a:xfrm>
          <a:prstGeom prst="rect">
            <a:avLst/>
          </a:prstGeom>
          <a:solidFill>
            <a:srgbClr val="0F2D45"/>
          </a:solidFill>
          <a:ln cap="flat" cmpd="sng" w="12700">
            <a:solidFill>
              <a:srgbClr val="1C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rgbClr val="5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4846320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5413248" y="312724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tool + MCP (Deliverable)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5413248" y="342900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★★★  Deliverable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4864608" y="370332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Integra i 3 tool nel chatbot RAG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della L4. Aggiungi 1 MCP server.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Testa con domande multi-step.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Wrap-up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548640" y="1005840"/>
            <a:ext cx="4023360" cy="3749040"/>
          </a:xfrm>
          <a:prstGeom prst="rect">
            <a:avLst/>
          </a:prstGeom>
          <a:solidFill>
            <a:srgbClr val="0A3A5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640080" y="10972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✅ Cosa hai imparato oggi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640080" y="150876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 loop agente: Percezione → Ragionamento → Azione → Osservazione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40080" y="183794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Definire tool in JSON (name, description, input_schema)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640080" y="216712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 modello decide, il tuo codice esegue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640080" y="249631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 loop con while stop_reason == tool_use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640080" y="282549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Sicurezza: minimal footprint, validazione, logging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40080" y="315468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MCP: lo standard per connettere tool ai modelli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640080" y="348386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 pre-costruiti: filesystem, GitHub, ricerca web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4754880" y="1005840"/>
            <a:ext cx="4023360" cy="1828800"/>
          </a:xfrm>
          <a:prstGeom prst="rect">
            <a:avLst/>
          </a:prstGeom>
          <a:solidFill>
            <a:srgbClr val="E877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4846320" y="107899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Deliverable da consegnare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4846320" y="1444752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Chatbot con: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Tool calcolatrice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Tool meteo (open-meteo)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Tool Wikipedia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1 MCP server connesso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Pushato su GitHub in lezione5/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4754880" y="2971800"/>
            <a:ext cx="4023360" cy="1828800"/>
          </a:xfrm>
          <a:prstGeom prst="rect">
            <a:avLst/>
          </a:prstGeom>
          <a:solidFill>
            <a:srgbClr val="5B2D8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4846320" y="304495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📖 Prima della Lezione 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4846320" y="3410712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Leggi Huyen Cap. 3 + 4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(Evaluation) e Cap. 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(Architecture)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Martedì 09/06 — deploy! 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2026-05-13T10:13:12Z</dcterms:created>
  <dc:creator>Marco Uras</dc:creator>
</cp:coreProperties>
</file>