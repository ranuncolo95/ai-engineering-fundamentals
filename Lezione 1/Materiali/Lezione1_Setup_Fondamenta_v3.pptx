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5143500" cx="9144000"/>
  <p:notesSz cx="5143500" cy="9144000"/>
  <p:embeddedFontLst>
    <p:embeddedFont>
      <p:font typeface="Arial Black"/>
      <p:regular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6" roundtripDataSignature="AMtx7mg5IGLxeS1iyZVYA6to4zvkmnP5+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ArialBlack-regular.fntdata"/><Relationship Id="rId14" Type="http://schemas.openxmlformats.org/officeDocument/2006/relationships/slide" Target="slides/slide10.xml"/><Relationship Id="rId16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" name="Google Shape;2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" name="Google Shape;6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" name="Google Shape;9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" name="Google Shape;12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4" name="Google Shape;15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9" name="Google Shape;179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4" name="Google Shape;21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9" name="Google Shape;239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0" name="Google Shape;270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65A82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548640" y="365760"/>
            <a:ext cx="18288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Arial Black"/>
              <a:buNone/>
            </a:pPr>
            <a:r>
              <a:rPr b="1" i="0" lang="en-US" sz="72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01</a:t>
            </a:r>
            <a:endParaRPr b="0" i="0" sz="7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548640" y="1371600"/>
            <a:ext cx="685800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Arial Black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Setup &amp;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Arial Black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Fondamenta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548640" y="306324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AI Engineering — Lezione 1 di 6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548640" y="3520440"/>
            <a:ext cx="59436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CC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AACCFF"/>
                </a:solidFill>
                <a:latin typeface="Calibri"/>
                <a:ea typeface="Calibri"/>
                <a:cs typeface="Calibri"/>
                <a:sym typeface="Calibri"/>
              </a:rPr>
              <a:t>📅  Martedì 19/05/2026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CC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AACCFF"/>
                </a:solidFill>
                <a:latin typeface="Calibri"/>
                <a:ea typeface="Calibri"/>
                <a:cs typeface="Calibri"/>
                <a:sym typeface="Calibri"/>
              </a:rPr>
              <a:t>⏱  5 ore  •  Monte ore: 5/30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CC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AACCFF"/>
                </a:solidFill>
                <a:latin typeface="Calibri"/>
                <a:ea typeface="Calibri"/>
                <a:cs typeface="Calibri"/>
                <a:sym typeface="Calibri"/>
              </a:rPr>
              <a:t>📖  Huyen Cap. 1 + Cap. 2 (parziale)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6858000" y="-914400"/>
            <a:ext cx="4114800" cy="4114800"/>
          </a:xfrm>
          <a:prstGeom prst="ellipse">
            <a:avLst/>
          </a:prstGeom>
          <a:solidFill>
            <a:srgbClr val="1C7293">
              <a:alpha val="3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1"/>
          <p:cNvSpPr/>
          <p:nvPr/>
        </p:nvSpPr>
        <p:spPr>
          <a:xfrm>
            <a:off x="7315200" y="2286000"/>
            <a:ext cx="2743200" cy="2743200"/>
          </a:xfrm>
          <a:prstGeom prst="ellipse">
            <a:avLst/>
          </a:prstGeom>
          <a:solidFill>
            <a:srgbClr val="02C39A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3000"/>
              <a:buFont typeface="Arial Black"/>
              <a:buNone/>
            </a:pPr>
            <a:r>
              <a:rPr b="1" i="0" lang="en-US" sz="3000" u="none" cap="none" strike="noStrike">
                <a:solidFill>
                  <a:srgbClr val="065A82"/>
                </a:solidFill>
                <a:latin typeface="Arial Black"/>
                <a:ea typeface="Arial Black"/>
                <a:cs typeface="Arial Black"/>
                <a:sym typeface="Arial Black"/>
              </a:rPr>
              <a:t>Il percorso completo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2"/>
          <p:cNvSpPr/>
          <p:nvPr/>
        </p:nvSpPr>
        <p:spPr>
          <a:xfrm>
            <a:off x="457200" y="786384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8CA4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6B8CA4"/>
                </a:solidFill>
                <a:latin typeface="Calibri"/>
                <a:ea typeface="Calibri"/>
                <a:cs typeface="Calibri"/>
                <a:sym typeface="Calibri"/>
              </a:rPr>
              <a:t>6 lezioni — dalla prima riga di codice al deploy pubblico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320040" y="1051560"/>
            <a:ext cx="2651760" cy="1691640"/>
          </a:xfrm>
          <a:prstGeom prst="rect">
            <a:avLst/>
          </a:prstGeom>
          <a:solidFill>
            <a:srgbClr val="065A82"/>
          </a:solidFill>
          <a:ln cap="flat" cmpd="sng" w="12700">
            <a:solidFill>
              <a:srgbClr val="065A82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2"/>
          <p:cNvSpPr/>
          <p:nvPr/>
        </p:nvSpPr>
        <p:spPr>
          <a:xfrm>
            <a:off x="411480" y="1143000"/>
            <a:ext cx="457200" cy="45720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2"/>
          <p:cNvSpPr/>
          <p:nvPr/>
        </p:nvSpPr>
        <p:spPr>
          <a:xfrm>
            <a:off x="411480" y="11430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3A2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A3A2A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960120" y="1188720"/>
            <a:ext cx="19202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FFCC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AAFFCC"/>
                </a:solidFill>
                <a:latin typeface="Consolas"/>
                <a:ea typeface="Consolas"/>
                <a:cs typeface="Consolas"/>
                <a:sym typeface="Consolas"/>
              </a:rPr>
              <a:t>19/05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411480" y="1645920"/>
            <a:ext cx="2468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Setup &amp; Fondamenta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411480" y="2002536"/>
            <a:ext cx="24688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FFEE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CCFFEE"/>
                </a:solidFill>
                <a:latin typeface="Calibri"/>
                <a:ea typeface="Calibri"/>
                <a:cs typeface="Calibri"/>
                <a:sym typeface="Calibri"/>
              </a:rPr>
              <a:t>Ambiente, API key, prima chiamata, token, temperature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411480" y="2606040"/>
            <a:ext cx="2468880" cy="9144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2"/>
          <p:cNvSpPr/>
          <p:nvPr/>
        </p:nvSpPr>
        <p:spPr>
          <a:xfrm>
            <a:off x="3154680" y="1051560"/>
            <a:ext cx="2651760" cy="1691640"/>
          </a:xfrm>
          <a:prstGeom prst="rect">
            <a:avLst/>
          </a:prstGeom>
          <a:solidFill>
            <a:srgbClr val="F0F4F8"/>
          </a:solidFill>
          <a:ln cap="flat" cmpd="sng" w="127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2"/>
          <p:cNvSpPr/>
          <p:nvPr/>
        </p:nvSpPr>
        <p:spPr>
          <a:xfrm>
            <a:off x="3246120" y="1143000"/>
            <a:ext cx="457200" cy="45720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2"/>
          <p:cNvSpPr/>
          <p:nvPr/>
        </p:nvSpPr>
        <p:spPr>
          <a:xfrm>
            <a:off x="3246120" y="11430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3794760" y="1188720"/>
            <a:ext cx="19202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8CA4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6B8CA4"/>
                </a:solidFill>
                <a:latin typeface="Consolas"/>
                <a:ea typeface="Consolas"/>
                <a:cs typeface="Consolas"/>
                <a:sym typeface="Consolas"/>
              </a:rPr>
              <a:t>21/05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3246120" y="1645920"/>
            <a:ext cx="2468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2E3B"/>
                </a:solidFill>
                <a:latin typeface="Calibri"/>
                <a:ea typeface="Calibri"/>
                <a:cs typeface="Calibri"/>
                <a:sym typeface="Calibri"/>
              </a:rPr>
              <a:t>Prompt Engineering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3246120" y="2002536"/>
            <a:ext cx="24688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8CA4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B8CA4"/>
                </a:solidFill>
                <a:latin typeface="Calibri"/>
                <a:ea typeface="Calibri"/>
                <a:cs typeface="Calibri"/>
                <a:sym typeface="Calibri"/>
              </a:rPr>
              <a:t>Zero-shot, few-shot, CoT, system prompt, Prompt Library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5989320" y="1051555"/>
            <a:ext cx="2651700" cy="1691700"/>
          </a:xfrm>
          <a:prstGeom prst="rect">
            <a:avLst/>
          </a:prstGeom>
          <a:solidFill>
            <a:srgbClr val="F0F4F8"/>
          </a:solidFill>
          <a:ln cap="flat" cmpd="sng" w="12700">
            <a:solidFill>
              <a:srgbClr val="065A82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2"/>
          <p:cNvSpPr/>
          <p:nvPr/>
        </p:nvSpPr>
        <p:spPr>
          <a:xfrm>
            <a:off x="6080760" y="1142995"/>
            <a:ext cx="457200" cy="45720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2"/>
          <p:cNvSpPr/>
          <p:nvPr/>
        </p:nvSpPr>
        <p:spPr>
          <a:xfrm>
            <a:off x="6080760" y="1142995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6629400" y="1188715"/>
            <a:ext cx="19203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8CA4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6B8CA4"/>
                </a:solidFill>
                <a:latin typeface="Consolas"/>
                <a:ea typeface="Consolas"/>
                <a:cs typeface="Consolas"/>
                <a:sym typeface="Consolas"/>
              </a:rPr>
              <a:t>26/05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6080760" y="1645915"/>
            <a:ext cx="2469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2E3B"/>
                </a:solidFill>
                <a:latin typeface="Calibri"/>
                <a:ea typeface="Calibri"/>
                <a:cs typeface="Calibri"/>
                <a:sym typeface="Calibri"/>
              </a:rPr>
              <a:t>Conversazione &amp; Memoria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6080760" y="2002531"/>
            <a:ext cx="24690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8CA4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B8CA4"/>
                </a:solidFill>
                <a:latin typeface="Calibri"/>
                <a:ea typeface="Calibri"/>
                <a:cs typeface="Calibri"/>
                <a:sym typeface="Calibri"/>
              </a:rPr>
              <a:t>History, context window, JSON persistente, streaming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320040" y="2926080"/>
            <a:ext cx="2651760" cy="1691640"/>
          </a:xfrm>
          <a:prstGeom prst="rect">
            <a:avLst/>
          </a:prstGeom>
          <a:solidFill>
            <a:srgbClr val="F0F4F8"/>
          </a:solidFill>
          <a:ln cap="flat" cmpd="sng" w="127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2"/>
          <p:cNvSpPr/>
          <p:nvPr/>
        </p:nvSpPr>
        <p:spPr>
          <a:xfrm>
            <a:off x="411480" y="3017520"/>
            <a:ext cx="457200" cy="457200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2"/>
          <p:cNvSpPr/>
          <p:nvPr/>
        </p:nvSpPr>
        <p:spPr>
          <a:xfrm>
            <a:off x="411480" y="301752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960120" y="3063240"/>
            <a:ext cx="19202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8CA4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6B8CA4"/>
                </a:solidFill>
                <a:latin typeface="Consolas"/>
                <a:ea typeface="Consolas"/>
                <a:cs typeface="Consolas"/>
                <a:sym typeface="Consolas"/>
              </a:rPr>
              <a:t>28/05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411480" y="3520440"/>
            <a:ext cx="2468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2E3B"/>
                </a:solidFill>
                <a:latin typeface="Calibri"/>
                <a:ea typeface="Calibri"/>
                <a:cs typeface="Calibri"/>
                <a:sym typeface="Calibri"/>
              </a:rPr>
              <a:t>RAG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411480" y="3877056"/>
            <a:ext cx="24688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8CA4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B8CA4"/>
                </a:solidFill>
                <a:latin typeface="Calibri"/>
                <a:ea typeface="Calibri"/>
                <a:cs typeface="Calibri"/>
                <a:sym typeface="Calibri"/>
              </a:rPr>
              <a:t>ChromaDB, embedding, chunking, rispondere su documenti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3154680" y="2926075"/>
            <a:ext cx="2651700" cy="1691700"/>
          </a:xfrm>
          <a:prstGeom prst="rect">
            <a:avLst/>
          </a:prstGeom>
          <a:solidFill>
            <a:srgbClr val="F0F4F8"/>
          </a:solidFill>
          <a:ln cap="flat" cmpd="sng" w="12700">
            <a:solidFill>
              <a:srgbClr val="065A82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2"/>
          <p:cNvSpPr/>
          <p:nvPr/>
        </p:nvSpPr>
        <p:spPr>
          <a:xfrm>
            <a:off x="3246120" y="3017515"/>
            <a:ext cx="457200" cy="45720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2"/>
          <p:cNvSpPr/>
          <p:nvPr/>
        </p:nvSpPr>
        <p:spPr>
          <a:xfrm>
            <a:off x="3246120" y="3017515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/>
          <p:nvPr/>
        </p:nvSpPr>
        <p:spPr>
          <a:xfrm>
            <a:off x="3794760" y="3063235"/>
            <a:ext cx="19203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8CA4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6B8CA4"/>
                </a:solidFill>
                <a:latin typeface="Consolas"/>
                <a:ea typeface="Consolas"/>
                <a:cs typeface="Consolas"/>
                <a:sym typeface="Consolas"/>
              </a:rPr>
              <a:t>04/06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2"/>
          <p:cNvSpPr/>
          <p:nvPr/>
        </p:nvSpPr>
        <p:spPr>
          <a:xfrm>
            <a:off x="3246120" y="3520435"/>
            <a:ext cx="2469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2E3B"/>
                </a:solidFill>
                <a:latin typeface="Calibri"/>
                <a:ea typeface="Calibri"/>
                <a:cs typeface="Calibri"/>
                <a:sym typeface="Calibri"/>
              </a:rPr>
              <a:t>Tools &amp; MCP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2"/>
          <p:cNvSpPr/>
          <p:nvPr/>
        </p:nvSpPr>
        <p:spPr>
          <a:xfrm>
            <a:off x="3246120" y="3877051"/>
            <a:ext cx="24690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8CA4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B8CA4"/>
                </a:solidFill>
                <a:latin typeface="Calibri"/>
                <a:ea typeface="Calibri"/>
                <a:cs typeface="Calibri"/>
                <a:sym typeface="Calibri"/>
              </a:rPr>
              <a:t>Function calling, loop agente, tool meteo e Wikipedia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2"/>
          <p:cNvSpPr/>
          <p:nvPr/>
        </p:nvSpPr>
        <p:spPr>
          <a:xfrm>
            <a:off x="5989320" y="2926075"/>
            <a:ext cx="2651700" cy="1691700"/>
          </a:xfrm>
          <a:prstGeom prst="rect">
            <a:avLst/>
          </a:prstGeom>
          <a:solidFill>
            <a:srgbClr val="F0F4F8"/>
          </a:solidFill>
          <a:ln cap="flat" cmpd="sng" w="12700">
            <a:solidFill>
              <a:srgbClr val="16653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2"/>
          <p:cNvSpPr/>
          <p:nvPr/>
        </p:nvSpPr>
        <p:spPr>
          <a:xfrm>
            <a:off x="6080760" y="3017515"/>
            <a:ext cx="457200" cy="457200"/>
          </a:xfrm>
          <a:prstGeom prst="ellipse">
            <a:avLst/>
          </a:prstGeom>
          <a:solidFill>
            <a:srgbClr val="16653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2"/>
          <p:cNvSpPr/>
          <p:nvPr/>
        </p:nvSpPr>
        <p:spPr>
          <a:xfrm>
            <a:off x="6080760" y="3017515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2"/>
          <p:cNvSpPr/>
          <p:nvPr/>
        </p:nvSpPr>
        <p:spPr>
          <a:xfrm>
            <a:off x="6629400" y="3063235"/>
            <a:ext cx="19203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8CA4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6B8CA4"/>
                </a:solidFill>
                <a:latin typeface="Consolas"/>
                <a:ea typeface="Consolas"/>
                <a:cs typeface="Consolas"/>
                <a:sym typeface="Consolas"/>
              </a:rPr>
              <a:t>09/06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2"/>
          <p:cNvSpPr/>
          <p:nvPr/>
        </p:nvSpPr>
        <p:spPr>
          <a:xfrm>
            <a:off x="6080760" y="3581304"/>
            <a:ext cx="2469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2E3B"/>
                </a:solidFill>
                <a:latin typeface="Calibri"/>
                <a:ea typeface="Calibri"/>
                <a:cs typeface="Calibri"/>
                <a:sym typeface="Calibri"/>
              </a:rPr>
              <a:t>UI Web &amp; Deploy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2"/>
          <p:cNvSpPr/>
          <p:nvPr/>
        </p:nvSpPr>
        <p:spPr>
          <a:xfrm>
            <a:off x="6080760" y="3877051"/>
            <a:ext cx="24690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8CA4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B8CA4"/>
                </a:solidFill>
                <a:latin typeface="Calibri"/>
                <a:ea typeface="Calibri"/>
                <a:cs typeface="Calibri"/>
                <a:sym typeface="Calibri"/>
              </a:rPr>
              <a:t>Streamlit, AI-as-a-Judge, guardrails, URL pubblico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C7293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3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 Black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ML Engineering vs AI Engineering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457200" y="850392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Huyen Cap. 1 — perché il panorama è cambiato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320040" y="1234440"/>
            <a:ext cx="4251960" cy="3566160"/>
          </a:xfrm>
          <a:prstGeom prst="rect">
            <a:avLst/>
          </a:prstGeom>
          <a:solidFill>
            <a:srgbClr val="5A0A0A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3"/>
          <p:cNvSpPr/>
          <p:nvPr/>
        </p:nvSpPr>
        <p:spPr>
          <a:xfrm>
            <a:off x="320040" y="1234440"/>
            <a:ext cx="4251960" cy="457200"/>
          </a:xfrm>
          <a:prstGeom prst="rect">
            <a:avLst/>
          </a:prstGeom>
          <a:solidFill>
            <a:srgbClr val="8B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3"/>
          <p:cNvSpPr/>
          <p:nvPr/>
        </p:nvSpPr>
        <p:spPr>
          <a:xfrm>
            <a:off x="411480" y="1280160"/>
            <a:ext cx="4069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 Black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🔬  ML Engineering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457200" y="1783080"/>
            <a:ext cx="39776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DDC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AADDCC"/>
                </a:solidFill>
                <a:latin typeface="Calibri"/>
                <a:ea typeface="Calibri"/>
                <a:cs typeface="Calibri"/>
                <a:sym typeface="Calibri"/>
              </a:rPr>
              <a:t>•  Raccogliere e pulire dataset enormi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457200" y="2212848"/>
            <a:ext cx="39776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DDC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AADDCC"/>
                </a:solidFill>
                <a:latin typeface="Calibri"/>
                <a:ea typeface="Calibri"/>
                <a:cs typeface="Calibri"/>
                <a:sym typeface="Calibri"/>
              </a:rPr>
              <a:t>•  Progettare l'architettura del modello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457200" y="2642616"/>
            <a:ext cx="39776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DDC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AADDCC"/>
                </a:solidFill>
                <a:latin typeface="Calibri"/>
                <a:ea typeface="Calibri"/>
                <a:cs typeface="Calibri"/>
                <a:sym typeface="Calibri"/>
              </a:rPr>
              <a:t>•  Addestrare su GPU per giorni/settimane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457200" y="3072384"/>
            <a:ext cx="39776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DDC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AADDCC"/>
                </a:solidFill>
                <a:latin typeface="Calibri"/>
                <a:ea typeface="Calibri"/>
                <a:cs typeface="Calibri"/>
                <a:sym typeface="Calibri"/>
              </a:rPr>
              <a:t>•  Ottimizzare iperparametri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457200" y="3502152"/>
            <a:ext cx="39776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DDC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AADDCC"/>
                </a:solidFill>
                <a:latin typeface="Calibri"/>
                <a:ea typeface="Calibri"/>
                <a:cs typeface="Calibri"/>
                <a:sym typeface="Calibri"/>
              </a:rPr>
              <a:t>•  Deploy e monitoring del modello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3"/>
          <p:cNvSpPr/>
          <p:nvPr/>
        </p:nvSpPr>
        <p:spPr>
          <a:xfrm>
            <a:off x="457200" y="3931920"/>
            <a:ext cx="39776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→  Richede: matematica avanzata, GPU, mesi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3"/>
          <p:cNvSpPr/>
          <p:nvPr/>
        </p:nvSpPr>
        <p:spPr>
          <a:xfrm>
            <a:off x="4754880" y="1234440"/>
            <a:ext cx="4251960" cy="3566160"/>
          </a:xfrm>
          <a:prstGeom prst="rect">
            <a:avLst/>
          </a:prstGeom>
          <a:solidFill>
            <a:srgbClr val="0A3A2A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3"/>
          <p:cNvSpPr/>
          <p:nvPr/>
        </p:nvSpPr>
        <p:spPr>
          <a:xfrm>
            <a:off x="4754880" y="1234440"/>
            <a:ext cx="4251960" cy="457200"/>
          </a:xfrm>
          <a:prstGeom prst="rect">
            <a:avLst/>
          </a:prstGeom>
          <a:solidFill>
            <a:srgbClr val="0A5A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3"/>
          <p:cNvSpPr/>
          <p:nvPr/>
        </p:nvSpPr>
        <p:spPr>
          <a:xfrm>
            <a:off x="4846320" y="1280160"/>
            <a:ext cx="4069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Arial Black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🔧  AI Engineering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3"/>
          <p:cNvSpPr/>
          <p:nvPr/>
        </p:nvSpPr>
        <p:spPr>
          <a:xfrm>
            <a:off x="4892040" y="1783080"/>
            <a:ext cx="39776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DDC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AADDCC"/>
                </a:solidFill>
                <a:latin typeface="Calibri"/>
                <a:ea typeface="Calibri"/>
                <a:cs typeface="Calibri"/>
                <a:sym typeface="Calibri"/>
              </a:rPr>
              <a:t>•  Usare modelli già addestrati via API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4892040" y="2212848"/>
            <a:ext cx="39776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DDC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AADDCC"/>
                </a:solidFill>
                <a:latin typeface="Calibri"/>
                <a:ea typeface="Calibri"/>
                <a:cs typeface="Calibri"/>
                <a:sym typeface="Calibri"/>
              </a:rPr>
              <a:t>•  Progettare prompt e pipeline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4892040" y="2642616"/>
            <a:ext cx="39776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DDC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AADDCC"/>
                </a:solidFill>
                <a:latin typeface="Calibri"/>
                <a:ea typeface="Calibri"/>
                <a:cs typeface="Calibri"/>
                <a:sym typeface="Calibri"/>
              </a:rPr>
              <a:t>•  Costruire RAG, tool, agenti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3"/>
          <p:cNvSpPr/>
          <p:nvPr/>
        </p:nvSpPr>
        <p:spPr>
          <a:xfrm>
            <a:off x="4892040" y="3072384"/>
            <a:ext cx="39776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DDC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AADDCC"/>
                </a:solidFill>
                <a:latin typeface="Calibri"/>
                <a:ea typeface="Calibri"/>
                <a:cs typeface="Calibri"/>
                <a:sym typeface="Calibri"/>
              </a:rPr>
              <a:t>•  Valutare e migliorare il sistema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3"/>
          <p:cNvSpPr/>
          <p:nvPr/>
        </p:nvSpPr>
        <p:spPr>
          <a:xfrm>
            <a:off x="4892040" y="3502152"/>
            <a:ext cx="39776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DDC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AADDCC"/>
                </a:solidFill>
                <a:latin typeface="Calibri"/>
                <a:ea typeface="Calibri"/>
                <a:cs typeface="Calibri"/>
                <a:sym typeface="Calibri"/>
              </a:rPr>
              <a:t>•  Deploy dell'applicazione in giorni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3"/>
          <p:cNvSpPr/>
          <p:nvPr/>
        </p:nvSpPr>
        <p:spPr>
          <a:xfrm>
            <a:off x="4892040" y="3931920"/>
            <a:ext cx="39776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→  Richiede: Python, creatività, giorni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3"/>
          <p:cNvSpPr/>
          <p:nvPr/>
        </p:nvSpPr>
        <p:spPr>
          <a:xfrm>
            <a:off x="320040" y="4828032"/>
            <a:ext cx="8503920" cy="201168"/>
          </a:xfrm>
          <a:prstGeom prst="rect">
            <a:avLst/>
          </a:prstGeom>
          <a:solidFill>
            <a:srgbClr val="0A20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3"/>
          <p:cNvSpPr/>
          <p:nvPr/>
        </p:nvSpPr>
        <p:spPr>
          <a:xfrm>
            <a:off x="411480" y="4846320"/>
            <a:ext cx="83210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💡  Oggi: il motore è già costruito. Il tuo lavoro è costruire la macchina intorno.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3000"/>
              <a:buFont typeface="Arial Black"/>
              <a:buNone/>
            </a:pPr>
            <a:r>
              <a:rPr b="1" i="0" lang="en-US" sz="3000" u="none" cap="none" strike="noStrike">
                <a:solidFill>
                  <a:srgbClr val="065A82"/>
                </a:solidFill>
                <a:latin typeface="Arial Black"/>
                <a:ea typeface="Arial Black"/>
                <a:cs typeface="Arial Black"/>
                <a:sym typeface="Arial Black"/>
              </a:rPr>
              <a:t>Crawl — Walk — Run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4"/>
          <p:cNvSpPr/>
          <p:nvPr/>
        </p:nvSpPr>
        <p:spPr>
          <a:xfrm>
            <a:off x="457200" y="786384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8CA4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6B8CA4"/>
                </a:solidFill>
                <a:latin typeface="Calibri"/>
                <a:ea typeface="Calibri"/>
                <a:cs typeface="Calibri"/>
                <a:sym typeface="Calibri"/>
              </a:rPr>
              <a:t>Huyen Cap. 1 — quanto autonomia diamo all'AI?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4"/>
          <p:cNvSpPr/>
          <p:nvPr/>
        </p:nvSpPr>
        <p:spPr>
          <a:xfrm>
            <a:off x="320040" y="1005840"/>
            <a:ext cx="2697480" cy="3931920"/>
          </a:xfrm>
          <a:prstGeom prst="rect">
            <a:avLst/>
          </a:prstGeom>
          <a:solidFill>
            <a:srgbClr val="F0FFF4"/>
          </a:solidFill>
          <a:ln cap="flat" cmpd="sng" w="12700">
            <a:solidFill>
              <a:srgbClr val="16653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4"/>
          <p:cNvSpPr/>
          <p:nvPr/>
        </p:nvSpPr>
        <p:spPr>
          <a:xfrm>
            <a:off x="320040" y="1005840"/>
            <a:ext cx="2697480" cy="45720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4"/>
          <p:cNvSpPr/>
          <p:nvPr/>
        </p:nvSpPr>
        <p:spPr>
          <a:xfrm>
            <a:off x="411480" y="1042416"/>
            <a:ext cx="251460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 Black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🐛  CRAWL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4"/>
          <p:cNvSpPr/>
          <p:nvPr/>
        </p:nvSpPr>
        <p:spPr>
          <a:xfrm>
            <a:off x="411480" y="1536192"/>
            <a:ext cx="2514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66534"/>
                </a:solidFill>
                <a:latin typeface="Calibri"/>
                <a:ea typeface="Calibri"/>
                <a:cs typeface="Calibri"/>
                <a:sym typeface="Calibri"/>
              </a:rPr>
              <a:t>L'AI suggerisce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66534"/>
                </a:solidFill>
                <a:latin typeface="Calibri"/>
                <a:ea typeface="Calibri"/>
                <a:cs typeface="Calibri"/>
                <a:sym typeface="Calibri"/>
              </a:rPr>
              <a:t>L'umano decide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5" name="Google Shape;105;p4"/>
          <p:cNvCxnSpPr/>
          <p:nvPr/>
        </p:nvCxnSpPr>
        <p:spPr>
          <a:xfrm>
            <a:off x="502920" y="2103120"/>
            <a:ext cx="2331720" cy="0"/>
          </a:xfrm>
          <a:prstGeom prst="straightConnector1">
            <a:avLst/>
          </a:prstGeom>
          <a:noFill/>
          <a:ln cap="flat" cmpd="sng" w="12700">
            <a:solidFill>
              <a:srgbClr val="16653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6" name="Google Shape;106;p4"/>
          <p:cNvSpPr/>
          <p:nvPr/>
        </p:nvSpPr>
        <p:spPr>
          <a:xfrm>
            <a:off x="411480" y="2176272"/>
            <a:ext cx="25146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2E3B"/>
                </a:solidFill>
                <a:latin typeface="Calibri"/>
                <a:ea typeface="Calibri"/>
                <a:cs typeface="Calibri"/>
                <a:sym typeface="Calibri"/>
              </a:rPr>
              <a:t>L'AI produce output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2E3B"/>
                </a:solidFill>
                <a:latin typeface="Calibri"/>
                <a:ea typeface="Calibri"/>
                <a:cs typeface="Calibri"/>
                <a:sym typeface="Calibri"/>
              </a:rPr>
              <a:t>che un umano approva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2E3B"/>
                </a:solidFill>
                <a:latin typeface="Calibri"/>
                <a:ea typeface="Calibri"/>
                <a:cs typeface="Calibri"/>
                <a:sym typeface="Calibri"/>
              </a:rPr>
              <a:t>prima di usare.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2E3B"/>
                </a:solidFill>
                <a:latin typeface="Calibri"/>
                <a:ea typeface="Calibri"/>
                <a:cs typeface="Calibri"/>
                <a:sym typeface="Calibri"/>
              </a:rPr>
              <a:t>Rischio: quasi zero.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4"/>
          <p:cNvSpPr/>
          <p:nvPr/>
        </p:nvSpPr>
        <p:spPr>
          <a:xfrm>
            <a:off x="411480" y="3337560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66534"/>
                </a:solidFill>
                <a:latin typeface="Calibri"/>
                <a:ea typeface="Calibri"/>
                <a:cs typeface="Calibri"/>
                <a:sym typeface="Calibri"/>
              </a:rPr>
              <a:t>Es: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4"/>
          <p:cNvSpPr/>
          <p:nvPr/>
        </p:nvSpPr>
        <p:spPr>
          <a:xfrm>
            <a:off x="777240" y="3310128"/>
            <a:ext cx="2148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8CA4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6B8CA4"/>
                </a:solidFill>
                <a:latin typeface="Calibri"/>
                <a:ea typeface="Calibri"/>
                <a:cs typeface="Calibri"/>
                <a:sym typeface="Calibri"/>
              </a:rPr>
              <a:t>Correttore ortografico,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8CA4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6B8CA4"/>
                </a:solidFill>
                <a:latin typeface="Calibri"/>
                <a:ea typeface="Calibri"/>
                <a:cs typeface="Calibri"/>
                <a:sym typeface="Calibri"/>
              </a:rPr>
              <a:t>suggested reply,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8CA4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6B8CA4"/>
                </a:solidFill>
                <a:latin typeface="Calibri"/>
                <a:ea typeface="Calibri"/>
                <a:cs typeface="Calibri"/>
                <a:sym typeface="Calibri"/>
              </a:rPr>
              <a:t>bozza email da revisionare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4"/>
          <p:cNvSpPr/>
          <p:nvPr/>
        </p:nvSpPr>
        <p:spPr>
          <a:xfrm>
            <a:off x="3200400" y="1005840"/>
            <a:ext cx="2697480" cy="3931920"/>
          </a:xfrm>
          <a:prstGeom prst="rect">
            <a:avLst/>
          </a:prstGeom>
          <a:solidFill>
            <a:srgbClr val="E8F8FF"/>
          </a:solidFill>
          <a:ln cap="flat" cmpd="sng" w="127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4"/>
          <p:cNvSpPr/>
          <p:nvPr/>
        </p:nvSpPr>
        <p:spPr>
          <a:xfrm>
            <a:off x="3200400" y="1005840"/>
            <a:ext cx="2697480" cy="4572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4"/>
          <p:cNvSpPr/>
          <p:nvPr/>
        </p:nvSpPr>
        <p:spPr>
          <a:xfrm>
            <a:off x="3291840" y="1042416"/>
            <a:ext cx="251460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 Black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🚶  WALK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4"/>
          <p:cNvSpPr/>
          <p:nvPr/>
        </p:nvSpPr>
        <p:spPr>
          <a:xfrm>
            <a:off x="3291840" y="1536192"/>
            <a:ext cx="2514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L'AI esegue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Sotto supervisione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3" name="Google Shape;113;p4"/>
          <p:cNvCxnSpPr/>
          <p:nvPr/>
        </p:nvCxnSpPr>
        <p:spPr>
          <a:xfrm>
            <a:off x="3383280" y="2103120"/>
            <a:ext cx="2331720" cy="0"/>
          </a:xfrm>
          <a:prstGeom prst="straightConnector1">
            <a:avLst/>
          </a:prstGeom>
          <a:noFill/>
          <a:ln cap="flat" cmpd="sng" w="127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4" name="Google Shape;114;p4"/>
          <p:cNvSpPr/>
          <p:nvPr/>
        </p:nvSpPr>
        <p:spPr>
          <a:xfrm>
            <a:off x="3291840" y="2176272"/>
            <a:ext cx="25146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2E3B"/>
                </a:solidFill>
                <a:latin typeface="Calibri"/>
                <a:ea typeface="Calibri"/>
                <a:cs typeface="Calibri"/>
                <a:sym typeface="Calibri"/>
              </a:rPr>
              <a:t>L'AI compie azioni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2E3B"/>
                </a:solidFill>
                <a:latin typeface="Calibri"/>
                <a:ea typeface="Calibri"/>
                <a:cs typeface="Calibri"/>
                <a:sym typeface="Calibri"/>
              </a:rPr>
              <a:t>complete ma qualcuno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2E3B"/>
                </a:solidFill>
                <a:latin typeface="Calibri"/>
                <a:ea typeface="Calibri"/>
                <a:cs typeface="Calibri"/>
                <a:sym typeface="Calibri"/>
              </a:rPr>
              <a:t>monitora i risultati.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2E3B"/>
                </a:solidFill>
                <a:latin typeface="Calibri"/>
                <a:ea typeface="Calibri"/>
                <a:cs typeface="Calibri"/>
                <a:sym typeface="Calibri"/>
              </a:rPr>
              <a:t>Rischio: basso.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4"/>
          <p:cNvSpPr/>
          <p:nvPr/>
        </p:nvSpPr>
        <p:spPr>
          <a:xfrm>
            <a:off x="3291840" y="3337560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Es: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4"/>
          <p:cNvSpPr/>
          <p:nvPr/>
        </p:nvSpPr>
        <p:spPr>
          <a:xfrm>
            <a:off x="3657600" y="3310128"/>
            <a:ext cx="2148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8CA4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6B8CA4"/>
                </a:solidFill>
                <a:latin typeface="Calibri"/>
                <a:ea typeface="Calibri"/>
                <a:cs typeface="Calibri"/>
                <a:sym typeface="Calibri"/>
              </a:rPr>
              <a:t>Il nostro chatbot WiData,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8CA4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6B8CA4"/>
                </a:solidFill>
                <a:latin typeface="Calibri"/>
                <a:ea typeface="Calibri"/>
                <a:cs typeface="Calibri"/>
                <a:sym typeface="Calibri"/>
              </a:rPr>
              <a:t>ricerca automatica,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8CA4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6B8CA4"/>
                </a:solidFill>
                <a:latin typeface="Calibri"/>
                <a:ea typeface="Calibri"/>
                <a:cs typeface="Calibri"/>
                <a:sym typeface="Calibri"/>
              </a:rPr>
              <a:t>chatbot con RAG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4"/>
          <p:cNvSpPr/>
          <p:nvPr/>
        </p:nvSpPr>
        <p:spPr>
          <a:xfrm>
            <a:off x="6080760" y="1005840"/>
            <a:ext cx="2697480" cy="3931920"/>
          </a:xfrm>
          <a:prstGeom prst="rect">
            <a:avLst/>
          </a:prstGeom>
          <a:solidFill>
            <a:srgbClr val="FFF0F0"/>
          </a:solidFill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4"/>
          <p:cNvSpPr/>
          <p:nvPr/>
        </p:nvSpPr>
        <p:spPr>
          <a:xfrm>
            <a:off x="6080760" y="1005840"/>
            <a:ext cx="2697480" cy="4572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4"/>
          <p:cNvSpPr/>
          <p:nvPr/>
        </p:nvSpPr>
        <p:spPr>
          <a:xfrm>
            <a:off x="6172200" y="1042416"/>
            <a:ext cx="251460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 Black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🏃  RUN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4"/>
          <p:cNvSpPr/>
          <p:nvPr/>
        </p:nvSpPr>
        <p:spPr>
          <a:xfrm>
            <a:off x="6172200" y="1536192"/>
            <a:ext cx="2514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L'AI agisce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In autonomia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1" name="Google Shape;121;p4"/>
          <p:cNvCxnSpPr/>
          <p:nvPr/>
        </p:nvCxnSpPr>
        <p:spPr>
          <a:xfrm>
            <a:off x="6263640" y="2103120"/>
            <a:ext cx="2331720" cy="0"/>
          </a:xfrm>
          <a:prstGeom prst="straightConnector1">
            <a:avLst/>
          </a:prstGeom>
          <a:noFill/>
          <a:ln cap="flat" cmpd="sng" w="1270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2" name="Google Shape;122;p4"/>
          <p:cNvSpPr/>
          <p:nvPr/>
        </p:nvSpPr>
        <p:spPr>
          <a:xfrm>
            <a:off x="6172200" y="2176272"/>
            <a:ext cx="25146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2E3B"/>
                </a:solidFill>
                <a:latin typeface="Calibri"/>
                <a:ea typeface="Calibri"/>
                <a:cs typeface="Calibri"/>
                <a:sym typeface="Calibri"/>
              </a:rPr>
              <a:t>L'AI prende decisioni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2E3B"/>
                </a:solidFill>
                <a:latin typeface="Calibri"/>
                <a:ea typeface="Calibri"/>
                <a:cs typeface="Calibri"/>
                <a:sym typeface="Calibri"/>
              </a:rPr>
              <a:t>e agisce senza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2E3B"/>
                </a:solidFill>
                <a:latin typeface="Calibri"/>
                <a:ea typeface="Calibri"/>
                <a:cs typeface="Calibri"/>
                <a:sym typeface="Calibri"/>
              </a:rPr>
              <a:t>controllo umano diretto.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2E3B"/>
                </a:solidFill>
                <a:latin typeface="Calibri"/>
                <a:ea typeface="Calibri"/>
                <a:cs typeface="Calibri"/>
                <a:sym typeface="Calibri"/>
              </a:rPr>
              <a:t>Rischio: alto.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4"/>
          <p:cNvSpPr/>
          <p:nvPr/>
        </p:nvSpPr>
        <p:spPr>
          <a:xfrm>
            <a:off x="6172200" y="3337560"/>
            <a:ext cx="365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392B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Es: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4"/>
          <p:cNvSpPr/>
          <p:nvPr/>
        </p:nvSpPr>
        <p:spPr>
          <a:xfrm>
            <a:off x="6537960" y="3310128"/>
            <a:ext cx="21488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8CA4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6B8CA4"/>
                </a:solidFill>
                <a:latin typeface="Calibri"/>
                <a:ea typeface="Calibri"/>
                <a:cs typeface="Calibri"/>
                <a:sym typeface="Calibri"/>
              </a:rPr>
              <a:t>Agente che invia email,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8CA4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6B8CA4"/>
                </a:solidFill>
                <a:latin typeface="Calibri"/>
                <a:ea typeface="Calibri"/>
                <a:cs typeface="Calibri"/>
                <a:sym typeface="Calibri"/>
              </a:rPr>
              <a:t>che fa acquisti,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8CA4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6B8CA4"/>
                </a:solidFill>
                <a:latin typeface="Calibri"/>
                <a:ea typeface="Calibri"/>
                <a:cs typeface="Calibri"/>
                <a:sym typeface="Calibri"/>
              </a:rPr>
              <a:t>che gestisce sistemi critici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4"/>
          <p:cNvSpPr/>
          <p:nvPr/>
        </p:nvSpPr>
        <p:spPr>
          <a:xfrm>
            <a:off x="320040" y="5010912"/>
            <a:ext cx="8458200" cy="36576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4"/>
          <p:cNvSpPr/>
          <p:nvPr/>
        </p:nvSpPr>
        <p:spPr>
          <a:xfrm>
            <a:off x="320040" y="4718304"/>
            <a:ext cx="8458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150"/>
              <a:buFont typeface="Calibri"/>
              <a:buNone/>
            </a:pPr>
            <a:r>
              <a:rPr b="1" i="1" lang="en-US" sz="115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📍  Il nostro chatbot finale si posizionerà in zona WALK — agisce ma il docente monitora.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2800"/>
              <a:buFont typeface="Arial Black"/>
              <a:buNone/>
            </a:pPr>
            <a:r>
              <a:rPr b="1" i="0" lang="en-US" sz="2800" u="none" cap="none" strike="noStrike">
                <a:solidFill>
                  <a:srgbClr val="065A82"/>
                </a:solidFill>
                <a:latin typeface="Arial Black"/>
                <a:ea typeface="Arial Black"/>
                <a:cs typeface="Arial Black"/>
                <a:sym typeface="Arial Black"/>
              </a:rPr>
              <a:t>Setup dell'ambiente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5"/>
          <p:cNvSpPr/>
          <p:nvPr/>
        </p:nvSpPr>
        <p:spPr>
          <a:xfrm>
            <a:off x="457200" y="786384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8CA4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6B8CA4"/>
                </a:solidFill>
                <a:latin typeface="Calibri"/>
                <a:ea typeface="Calibri"/>
                <a:cs typeface="Calibri"/>
                <a:sym typeface="Calibri"/>
              </a:rPr>
              <a:t>Due opzioni — il codice è identico in entrambi i casi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5"/>
          <p:cNvSpPr/>
          <p:nvPr/>
        </p:nvSpPr>
        <p:spPr>
          <a:xfrm>
            <a:off x="320040" y="1051560"/>
            <a:ext cx="3977640" cy="2834640"/>
          </a:xfrm>
          <a:prstGeom prst="rect">
            <a:avLst/>
          </a:prstGeom>
          <a:solidFill>
            <a:srgbClr val="F0FFF4"/>
          </a:solidFill>
          <a:ln cap="flat" cmpd="sng" w="12700">
            <a:solidFill>
              <a:srgbClr val="16653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5"/>
          <p:cNvSpPr/>
          <p:nvPr/>
        </p:nvSpPr>
        <p:spPr>
          <a:xfrm>
            <a:off x="320040" y="1051560"/>
            <a:ext cx="3977640" cy="411480"/>
          </a:xfrm>
          <a:prstGeom prst="rect">
            <a:avLst/>
          </a:prstGeom>
          <a:solidFill>
            <a:srgbClr val="16653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5"/>
          <p:cNvSpPr/>
          <p:nvPr/>
        </p:nvSpPr>
        <p:spPr>
          <a:xfrm>
            <a:off x="411480" y="1097280"/>
            <a:ext cx="3794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☁️  Opzione A — Google Colab   ✅ CONSIGLIATA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5"/>
          <p:cNvSpPr/>
          <p:nvPr/>
        </p:nvSpPr>
        <p:spPr>
          <a:xfrm>
            <a:off x="411480" y="1572768"/>
            <a:ext cx="37947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66534"/>
                </a:solidFill>
                <a:latin typeface="Calibri"/>
                <a:ea typeface="Calibri"/>
                <a:cs typeface="Calibri"/>
                <a:sym typeface="Calibri"/>
              </a:rPr>
              <a:t>✓  </a:t>
            </a:r>
            <a:r>
              <a:rPr b="0" i="0" lang="en-US" sz="1100" u="none" cap="none" strike="noStrike">
                <a:solidFill>
                  <a:srgbClr val="1A2E3B"/>
                </a:solidFill>
                <a:latin typeface="Calibri"/>
                <a:ea typeface="Calibri"/>
                <a:cs typeface="Calibri"/>
                <a:sym typeface="Calibri"/>
              </a:rPr>
              <a:t>Zero installazioni — funziona nel browser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5"/>
          <p:cNvSpPr/>
          <p:nvPr/>
        </p:nvSpPr>
        <p:spPr>
          <a:xfrm>
            <a:off x="411480" y="1956816"/>
            <a:ext cx="37947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66534"/>
                </a:solidFill>
                <a:latin typeface="Calibri"/>
                <a:ea typeface="Calibri"/>
                <a:cs typeface="Calibri"/>
                <a:sym typeface="Calibri"/>
              </a:rPr>
              <a:t>✓  </a:t>
            </a:r>
            <a:r>
              <a:rPr b="0" i="0" lang="en-US" sz="1100" u="none" cap="none" strike="noStrike">
                <a:solidFill>
                  <a:srgbClr val="1A2E3B"/>
                </a:solidFill>
                <a:latin typeface="Calibri"/>
                <a:ea typeface="Calibri"/>
                <a:cs typeface="Calibri"/>
                <a:sym typeface="Calibri"/>
              </a:rPr>
              <a:t>Nessun problema con Python o dipendenze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5"/>
          <p:cNvSpPr/>
          <p:nvPr/>
        </p:nvSpPr>
        <p:spPr>
          <a:xfrm>
            <a:off x="411480" y="2340864"/>
            <a:ext cx="37947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66534"/>
                </a:solidFill>
                <a:latin typeface="Calibri"/>
                <a:ea typeface="Calibri"/>
                <a:cs typeface="Calibri"/>
                <a:sym typeface="Calibri"/>
              </a:rPr>
              <a:t>✓  </a:t>
            </a:r>
            <a:r>
              <a:rPr b="0" i="0" lang="en-US" sz="1100" u="none" cap="none" strike="noStrike">
                <a:solidFill>
                  <a:srgbClr val="1A2E3B"/>
                </a:solidFill>
                <a:latin typeface="Calibri"/>
                <a:ea typeface="Calibri"/>
                <a:cs typeface="Calibri"/>
                <a:sym typeface="Calibri"/>
              </a:rPr>
              <a:t>API key via Colab Secrets (🔑 lucchetto nella sidebar)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5"/>
          <p:cNvSpPr/>
          <p:nvPr/>
        </p:nvSpPr>
        <p:spPr>
          <a:xfrm>
            <a:off x="411480" y="2724912"/>
            <a:ext cx="37947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66534"/>
                </a:solidFill>
                <a:latin typeface="Calibri"/>
                <a:ea typeface="Calibri"/>
                <a:cs typeface="Calibri"/>
                <a:sym typeface="Calibri"/>
              </a:rPr>
              <a:t>✓  </a:t>
            </a:r>
            <a:r>
              <a:rPr b="0" i="0" lang="en-US" sz="1100" u="none" cap="none" strike="noStrike">
                <a:solidFill>
                  <a:srgbClr val="1A2E3B"/>
                </a:solidFill>
                <a:latin typeface="Calibri"/>
                <a:ea typeface="Calibri"/>
                <a:cs typeface="Calibri"/>
                <a:sym typeface="Calibri"/>
              </a:rPr>
              <a:t>Salva automaticamente su Google Drive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5"/>
          <p:cNvSpPr/>
          <p:nvPr/>
        </p:nvSpPr>
        <p:spPr>
          <a:xfrm>
            <a:off x="411480" y="3108960"/>
            <a:ext cx="37947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6534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66534"/>
                </a:solidFill>
                <a:latin typeface="Calibri"/>
                <a:ea typeface="Calibri"/>
                <a:cs typeface="Calibri"/>
                <a:sym typeface="Calibri"/>
              </a:rPr>
              <a:t>✓  </a:t>
            </a:r>
            <a:r>
              <a:rPr b="0" i="0" lang="en-US" sz="1100" u="none" cap="none" strike="noStrike">
                <a:solidFill>
                  <a:srgbClr val="1A2E3B"/>
                </a:solidFill>
                <a:latin typeface="Calibri"/>
                <a:ea typeface="Calibri"/>
                <a:cs typeface="Calibri"/>
                <a:sym typeface="Calibri"/>
              </a:rPr>
              <a:t>Apri il notebook dal link su GitHub → File → Salva copia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5"/>
          <p:cNvSpPr/>
          <p:nvPr/>
        </p:nvSpPr>
        <p:spPr>
          <a:xfrm>
            <a:off x="4572000" y="1051560"/>
            <a:ext cx="4251960" cy="2834640"/>
          </a:xfrm>
          <a:prstGeom prst="rect">
            <a:avLst/>
          </a:prstGeom>
          <a:solidFill>
            <a:srgbClr val="F0F4F8"/>
          </a:solidFill>
          <a:ln cap="flat" cmpd="sng" w="12700">
            <a:solidFill>
              <a:srgbClr val="065A82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5"/>
          <p:cNvSpPr/>
          <p:nvPr/>
        </p:nvSpPr>
        <p:spPr>
          <a:xfrm>
            <a:off x="4572000" y="1051560"/>
            <a:ext cx="4251960" cy="41148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5"/>
          <p:cNvSpPr/>
          <p:nvPr/>
        </p:nvSpPr>
        <p:spPr>
          <a:xfrm>
            <a:off x="4663440" y="1097280"/>
            <a:ext cx="4069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💻  Opzione B — Ambiente Locale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5"/>
          <p:cNvSpPr/>
          <p:nvPr/>
        </p:nvSpPr>
        <p:spPr>
          <a:xfrm>
            <a:off x="4663440" y="1536192"/>
            <a:ext cx="4069080" cy="1325880"/>
          </a:xfrm>
          <a:prstGeom prst="rect">
            <a:avLst/>
          </a:prstGeom>
          <a:solidFill>
            <a:srgbClr val="1E2A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5"/>
          <p:cNvSpPr/>
          <p:nvPr/>
        </p:nvSpPr>
        <p:spPr>
          <a:xfrm>
            <a:off x="4709160" y="1581912"/>
            <a:ext cx="3977640" cy="1234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python -m venv venv</a:t>
            </a:r>
            <a:br>
              <a:rPr b="0" i="0" lang="en-US" sz="1000" u="none" cap="none" strike="noStrike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000" u="none" cap="none" strike="noStrike">
                <a:solidFill>
                  <a:srgbClr val="888888"/>
                </a:solidFill>
                <a:latin typeface="Consolas"/>
                <a:ea typeface="Consolas"/>
                <a:cs typeface="Consolas"/>
                <a:sym typeface="Consolas"/>
              </a:rPr>
              <a:t>source venv/bin/activate  </a:t>
            </a:r>
            <a:r>
              <a:rPr b="0" i="0" lang="en-US" sz="1000" u="none" cap="none" strike="noStrike">
                <a:solidFill>
                  <a:srgbClr val="5C6370"/>
                </a:solidFill>
                <a:latin typeface="Consolas"/>
                <a:ea typeface="Consolas"/>
                <a:cs typeface="Consolas"/>
                <a:sym typeface="Consolas"/>
              </a:rPr>
              <a:t># Mac/Linux</a:t>
            </a:r>
            <a:br>
              <a:rPr b="0" i="0" lang="en-US" sz="1000" u="none" cap="none" strike="noStrike">
                <a:solidFill>
                  <a:srgbClr val="5C637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000" u="none" cap="none" strike="noStrike">
                <a:solidFill>
                  <a:srgbClr val="888888"/>
                </a:solidFill>
                <a:latin typeface="Consolas"/>
                <a:ea typeface="Consolas"/>
                <a:cs typeface="Consolas"/>
                <a:sym typeface="Consolas"/>
              </a:rPr>
              <a:t>venv\Scripts\activate    </a:t>
            </a:r>
            <a:r>
              <a:rPr b="0" i="0" lang="en-US" sz="1000" u="none" cap="none" strike="noStrike">
                <a:solidFill>
                  <a:srgbClr val="5C6370"/>
                </a:solidFill>
                <a:latin typeface="Consolas"/>
                <a:ea typeface="Consolas"/>
                <a:cs typeface="Consolas"/>
                <a:sym typeface="Consolas"/>
              </a:rPr>
              <a:t># Windows</a:t>
            </a:r>
            <a:br>
              <a:rPr b="0" i="0" lang="en-US" sz="1000" u="none" cap="none" strike="noStrike">
                <a:solidFill>
                  <a:srgbClr val="5C637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1000" u="none" cap="none" strike="noStrike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pip install anthropic python-dotenv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5"/>
          <p:cNvSpPr/>
          <p:nvPr/>
        </p:nvSpPr>
        <p:spPr>
          <a:xfrm>
            <a:off x="4663440" y="2944368"/>
            <a:ext cx="4069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8CA4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6B8CA4"/>
                </a:solidFill>
                <a:latin typeface="Calibri"/>
                <a:ea typeface="Calibri"/>
                <a:cs typeface="Calibri"/>
                <a:sym typeface="Calibri"/>
              </a:rPr>
              <a:t>API key nel file .env (non committare!)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5"/>
          <p:cNvSpPr/>
          <p:nvPr/>
        </p:nvSpPr>
        <p:spPr>
          <a:xfrm>
            <a:off x="4663440" y="3246120"/>
            <a:ext cx="4069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B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1A2E3B"/>
                </a:solidFill>
                <a:latin typeface="Calibri"/>
                <a:ea typeface="Calibri"/>
                <a:cs typeface="Calibri"/>
                <a:sym typeface="Calibri"/>
              </a:rPr>
              <a:t>Per chi vuole lavorare offline o preferisce il terminale.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5"/>
          <p:cNvSpPr/>
          <p:nvPr/>
        </p:nvSpPr>
        <p:spPr>
          <a:xfrm>
            <a:off x="320040" y="4005072"/>
            <a:ext cx="8503920" cy="932688"/>
          </a:xfrm>
          <a:prstGeom prst="rect">
            <a:avLst/>
          </a:prstGeom>
          <a:solidFill>
            <a:srgbClr val="D6E4F7"/>
          </a:solidFill>
          <a:ln cap="flat" cmpd="sng" w="12700">
            <a:solidFill>
              <a:srgbClr val="065A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5"/>
          <p:cNvSpPr/>
          <p:nvPr/>
        </p:nvSpPr>
        <p:spPr>
          <a:xfrm>
            <a:off x="411480" y="4078224"/>
            <a:ext cx="8321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🔑  Come ottenere la API key: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5"/>
          <p:cNvSpPr/>
          <p:nvPr/>
        </p:nvSpPr>
        <p:spPr>
          <a:xfrm>
            <a:off x="411480" y="4334256"/>
            <a:ext cx="8321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2E3B"/>
                </a:solidFill>
                <a:latin typeface="Calibri"/>
                <a:ea typeface="Calibri"/>
                <a:cs typeface="Calibri"/>
                <a:sym typeface="Calibri"/>
              </a:rPr>
              <a:t>console.anthropic.com  →  Gestisci  →  Chiavi API  →  Crea chiave  →  Copia subito (visibile solo una volta!)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65A82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6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 Black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La prima chiamata all'API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6"/>
          <p:cNvSpPr/>
          <p:nvPr/>
        </p:nvSpPr>
        <p:spPr>
          <a:xfrm>
            <a:off x="457200" y="850392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Il codice più importante del corso — leggi ogni riga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6"/>
          <p:cNvSpPr/>
          <p:nvPr/>
        </p:nvSpPr>
        <p:spPr>
          <a:xfrm>
            <a:off x="365760" y="1143000"/>
            <a:ext cx="5120640" cy="3749040"/>
          </a:xfrm>
          <a:prstGeom prst="rect">
            <a:avLst/>
          </a:prstGeom>
          <a:solidFill>
            <a:srgbClr val="0A1A2A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6"/>
          <p:cNvSpPr/>
          <p:nvPr/>
        </p:nvSpPr>
        <p:spPr>
          <a:xfrm>
            <a:off x="502920" y="1234440"/>
            <a:ext cx="493776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792EA"/>
              </a:buClr>
              <a:buSzPts val="950"/>
              <a:buFont typeface="Consolas"/>
              <a:buNone/>
            </a:pPr>
            <a:r>
              <a:rPr b="1" i="0" lang="en-US" sz="950" u="none" cap="none" strike="noStrike">
                <a:solidFill>
                  <a:srgbClr val="C792EA"/>
                </a:solidFill>
                <a:latin typeface="Consolas"/>
                <a:ea typeface="Consolas"/>
                <a:cs typeface="Consolas"/>
                <a:sym typeface="Consolas"/>
              </a:rPr>
              <a:t>import </a:t>
            </a:r>
            <a:r>
              <a:rPr b="0" i="0" lang="en-US" sz="950" u="none" cap="none" strike="noStrike">
                <a:solidFill>
                  <a:srgbClr val="AACCFF"/>
                </a:solidFill>
                <a:latin typeface="Consolas"/>
                <a:ea typeface="Consolas"/>
                <a:cs typeface="Consolas"/>
                <a:sym typeface="Consolas"/>
              </a:rPr>
              <a:t>anthropic</a:t>
            </a:r>
            <a:br>
              <a:rPr b="0" i="0" lang="en-US" sz="950" u="none" cap="none" strike="noStrike">
                <a:solidFill>
                  <a:srgbClr val="AACC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1" i="0" lang="en-US" sz="950" u="none" cap="none" strike="noStrike">
                <a:solidFill>
                  <a:srgbClr val="C792EA"/>
                </a:solidFill>
                <a:latin typeface="Consolas"/>
                <a:ea typeface="Consolas"/>
                <a:cs typeface="Consolas"/>
                <a:sym typeface="Consolas"/>
              </a:rPr>
              <a:t>from </a:t>
            </a:r>
            <a:r>
              <a:rPr b="0" i="0" lang="en-US" sz="950" u="none" cap="none" strike="noStrike">
                <a:solidFill>
                  <a:srgbClr val="AACCFF"/>
                </a:solidFill>
                <a:latin typeface="Consolas"/>
                <a:ea typeface="Consolas"/>
                <a:cs typeface="Consolas"/>
                <a:sym typeface="Consolas"/>
              </a:rPr>
              <a:t>google.colab </a:t>
            </a:r>
            <a:r>
              <a:rPr b="1" i="0" lang="en-US" sz="950" u="none" cap="none" strike="noStrike">
                <a:solidFill>
                  <a:srgbClr val="C792EA"/>
                </a:solidFill>
                <a:latin typeface="Consolas"/>
                <a:ea typeface="Consolas"/>
                <a:cs typeface="Consolas"/>
                <a:sym typeface="Consolas"/>
              </a:rPr>
              <a:t>import </a:t>
            </a:r>
            <a:r>
              <a:rPr b="0" i="0" lang="en-US" sz="950" u="none" cap="none" strike="noStrike">
                <a:solidFill>
                  <a:srgbClr val="AACCFF"/>
                </a:solidFill>
                <a:latin typeface="Consolas"/>
                <a:ea typeface="Consolas"/>
                <a:cs typeface="Consolas"/>
                <a:sym typeface="Consolas"/>
              </a:rPr>
              <a:t>userdata  </a:t>
            </a:r>
            <a:r>
              <a:rPr b="0" i="0" lang="en-US" sz="950" u="none" cap="none" strike="noStrike">
                <a:solidFill>
                  <a:srgbClr val="5C6370"/>
                </a:solidFill>
                <a:latin typeface="Consolas"/>
                <a:ea typeface="Consolas"/>
                <a:cs typeface="Consolas"/>
                <a:sym typeface="Consolas"/>
              </a:rPr>
              <a:t># solo su Colab</a:t>
            </a:r>
            <a:br>
              <a:rPr b="0" i="0" lang="en-US" sz="950" u="none" cap="none" strike="noStrike">
                <a:solidFill>
                  <a:srgbClr val="5C637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1" i="0" lang="en-US" sz="950" u="none" cap="none" strike="noStrike">
                <a:solidFill>
                  <a:srgbClr val="C792EA"/>
                </a:solidFill>
                <a:latin typeface="Consolas"/>
                <a:ea typeface="Consolas"/>
                <a:cs typeface="Consolas"/>
                <a:sym typeface="Consolas"/>
              </a:rPr>
              <a:t>import </a:t>
            </a:r>
            <a:r>
              <a:rPr b="0" i="0" lang="en-US" sz="950" u="none" cap="none" strike="noStrike">
                <a:solidFill>
                  <a:srgbClr val="AACCFF"/>
                </a:solidFill>
                <a:latin typeface="Consolas"/>
                <a:ea typeface="Consolas"/>
                <a:cs typeface="Consolas"/>
                <a:sym typeface="Consolas"/>
              </a:rPr>
              <a:t>os</a:t>
            </a:r>
            <a:br>
              <a:rPr b="0" i="0" lang="en-US" sz="950" u="none" cap="none" strike="noStrike">
                <a:solidFill>
                  <a:srgbClr val="AACCFF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b="0" i="0" lang="en-US" sz="950" u="none" cap="none" strike="noStrike">
                <a:solidFill>
                  <a:srgbClr val="AACC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950" u="none" cap="none" strike="noStrike">
                <a:solidFill>
                  <a:srgbClr val="5C6370"/>
                </a:solidFill>
                <a:latin typeface="Consolas"/>
                <a:ea typeface="Consolas"/>
                <a:cs typeface="Consolas"/>
                <a:sym typeface="Consolas"/>
              </a:rPr>
              <a:t># Carica la API key</a:t>
            </a:r>
            <a:br>
              <a:rPr b="0" i="0" lang="en-US" sz="950" u="none" cap="none" strike="noStrike">
                <a:solidFill>
                  <a:srgbClr val="5C637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950" u="none" cap="none" strike="noStrike">
                <a:solidFill>
                  <a:srgbClr val="AACCFF"/>
                </a:solidFill>
                <a:latin typeface="Consolas"/>
                <a:ea typeface="Consolas"/>
                <a:cs typeface="Consolas"/>
                <a:sym typeface="Consolas"/>
              </a:rPr>
              <a:t>os.environ[</a:t>
            </a:r>
            <a:r>
              <a:rPr b="0" i="0" lang="en-US" sz="950" u="none" cap="none" strike="noStrike">
                <a:solidFill>
                  <a:srgbClr val="E5C07B"/>
                </a:solidFill>
                <a:latin typeface="Consolas"/>
                <a:ea typeface="Consolas"/>
                <a:cs typeface="Consolas"/>
                <a:sym typeface="Consolas"/>
              </a:rPr>
              <a:t>"ANTHROPIC_API_KEY"</a:t>
            </a:r>
            <a:r>
              <a:rPr b="0" i="0" lang="en-US" sz="950" u="none" cap="none" strike="noStrike">
                <a:solidFill>
                  <a:srgbClr val="AACCFF"/>
                </a:solidFill>
                <a:latin typeface="Consolas"/>
                <a:ea typeface="Consolas"/>
                <a:cs typeface="Consolas"/>
                <a:sym typeface="Consolas"/>
              </a:rPr>
              <a:t>] = userdata.get(</a:t>
            </a:r>
            <a:r>
              <a:rPr b="0" i="0" lang="en-US" sz="950" u="none" cap="none" strike="noStrike">
                <a:solidFill>
                  <a:srgbClr val="E5C07B"/>
                </a:solidFill>
                <a:latin typeface="Consolas"/>
                <a:ea typeface="Consolas"/>
                <a:cs typeface="Consolas"/>
                <a:sym typeface="Consolas"/>
              </a:rPr>
              <a:t>"ANTHROPIC_API_KEY"</a:t>
            </a:r>
            <a:r>
              <a:rPr b="0" i="0" lang="en-US" sz="950" u="none" cap="none" strike="noStrike">
                <a:solidFill>
                  <a:srgbClr val="AACCFF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br>
              <a:rPr b="0" i="0" lang="en-US" sz="950" u="none" cap="none" strike="noStrike">
                <a:solidFill>
                  <a:srgbClr val="AACCFF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b="0" i="0" lang="en-US" sz="950" u="none" cap="none" strike="noStrike">
                <a:solidFill>
                  <a:srgbClr val="AACC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950" u="none" cap="none" strike="noStrike">
                <a:solidFill>
                  <a:srgbClr val="5C6370"/>
                </a:solidFill>
                <a:latin typeface="Consolas"/>
                <a:ea typeface="Consolas"/>
                <a:cs typeface="Consolas"/>
                <a:sym typeface="Consolas"/>
              </a:rPr>
              <a:t># Crea il client</a:t>
            </a:r>
            <a:br>
              <a:rPr b="0" i="0" lang="en-US" sz="950" u="none" cap="none" strike="noStrike">
                <a:solidFill>
                  <a:srgbClr val="5C637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950" u="none" cap="none" strike="noStrike">
                <a:solidFill>
                  <a:srgbClr val="AACCFF"/>
                </a:solidFill>
                <a:latin typeface="Consolas"/>
                <a:ea typeface="Consolas"/>
                <a:cs typeface="Consolas"/>
                <a:sym typeface="Consolas"/>
              </a:rPr>
              <a:t>client = anthropic.Anthropic()</a:t>
            </a:r>
            <a:br>
              <a:rPr b="0" i="0" lang="en-US" sz="950" u="none" cap="none" strike="noStrike">
                <a:solidFill>
                  <a:srgbClr val="AACCFF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b="0" i="0" lang="en-US" sz="950" u="none" cap="none" strike="noStrike">
                <a:solidFill>
                  <a:srgbClr val="AACC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950" u="none" cap="none" strike="noStrike">
                <a:solidFill>
                  <a:srgbClr val="5C6370"/>
                </a:solidFill>
                <a:latin typeface="Consolas"/>
                <a:ea typeface="Consolas"/>
                <a:cs typeface="Consolas"/>
                <a:sym typeface="Consolas"/>
              </a:rPr>
              <a:t># Invia un messaggio</a:t>
            </a:r>
            <a:br>
              <a:rPr b="0" i="0" lang="en-US" sz="950" u="none" cap="none" strike="noStrike">
                <a:solidFill>
                  <a:srgbClr val="5C637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950" u="none" cap="none" strike="noStrike">
                <a:solidFill>
                  <a:srgbClr val="AACCFF"/>
                </a:solidFill>
                <a:latin typeface="Consolas"/>
                <a:ea typeface="Consolas"/>
                <a:cs typeface="Consolas"/>
                <a:sym typeface="Consolas"/>
              </a:rPr>
              <a:t>message = client.messages.create(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CCFF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AACCFF"/>
                </a:solidFill>
                <a:latin typeface="Consolas"/>
                <a:ea typeface="Consolas"/>
                <a:cs typeface="Consolas"/>
                <a:sym typeface="Consolas"/>
              </a:rPr>
              <a:t>    model=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C07B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E5C07B"/>
                </a:solidFill>
                <a:latin typeface="Consolas"/>
                <a:ea typeface="Consolas"/>
                <a:cs typeface="Consolas"/>
                <a:sym typeface="Consolas"/>
              </a:rPr>
              <a:t>"claude-haiku-4-5-20251001"</a:t>
            </a:r>
            <a:r>
              <a:rPr b="0" i="0" lang="en-US" sz="950" u="none" cap="none" strike="noStrike">
                <a:solidFill>
                  <a:srgbClr val="AACCFF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CCFF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AACCFF"/>
                </a:solidFill>
                <a:latin typeface="Consolas"/>
                <a:ea typeface="Consolas"/>
                <a:cs typeface="Consolas"/>
                <a:sym typeface="Consolas"/>
              </a:rPr>
              <a:t>    max_tokens=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19A66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D19A66"/>
                </a:solidFill>
                <a:latin typeface="Consolas"/>
                <a:ea typeface="Consolas"/>
                <a:cs typeface="Consolas"/>
                <a:sym typeface="Consolas"/>
              </a:rPr>
              <a:t>1024</a:t>
            </a:r>
            <a:r>
              <a:rPr b="0" i="0" lang="en-US" sz="950" u="none" cap="none" strike="noStrike">
                <a:solidFill>
                  <a:srgbClr val="AACCFF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CCFF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AACCFF"/>
                </a:solidFill>
                <a:latin typeface="Consolas"/>
                <a:ea typeface="Consolas"/>
                <a:cs typeface="Consolas"/>
                <a:sym typeface="Consolas"/>
              </a:rPr>
              <a:t>    messages=[{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CCFF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AACCFF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C07B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E5C07B"/>
                </a:solidFill>
                <a:latin typeface="Consolas"/>
                <a:ea typeface="Consolas"/>
                <a:cs typeface="Consolas"/>
                <a:sym typeface="Consolas"/>
              </a:rPr>
              <a:t>"role"</a:t>
            </a:r>
            <a:r>
              <a:rPr b="0" i="0" lang="en-US" sz="950" u="none" cap="none" strike="noStrike">
                <a:solidFill>
                  <a:srgbClr val="AACCFF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b="0" i="0" lang="en-US" sz="950" u="none" cap="none" strike="noStrike">
                <a:solidFill>
                  <a:srgbClr val="E5C07B"/>
                </a:solidFill>
                <a:latin typeface="Consolas"/>
                <a:ea typeface="Consolas"/>
                <a:cs typeface="Consolas"/>
                <a:sym typeface="Consolas"/>
              </a:rPr>
              <a:t>"user"</a:t>
            </a:r>
            <a:r>
              <a:rPr b="0" i="0" lang="en-US" sz="950" u="none" cap="none" strike="noStrike">
                <a:solidFill>
                  <a:srgbClr val="AACCFF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CCFF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AACCFF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5C07B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E5C07B"/>
                </a:solidFill>
                <a:latin typeface="Consolas"/>
                <a:ea typeface="Consolas"/>
                <a:cs typeface="Consolas"/>
                <a:sym typeface="Consolas"/>
              </a:rPr>
              <a:t>"content"</a:t>
            </a:r>
            <a:r>
              <a:rPr b="0" i="0" lang="en-US" sz="950" u="none" cap="none" strike="noStrike">
                <a:solidFill>
                  <a:srgbClr val="AACCFF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b="0" i="0" lang="en-US" sz="950" u="none" cap="none" strike="noStrike">
                <a:solidFill>
                  <a:srgbClr val="E5C07B"/>
                </a:solidFill>
                <a:latin typeface="Consolas"/>
                <a:ea typeface="Consolas"/>
                <a:cs typeface="Consolas"/>
                <a:sym typeface="Consolas"/>
              </a:rPr>
              <a:t>"Ciao Claude!"</a:t>
            </a:r>
            <a:br>
              <a:rPr b="0" i="0" lang="en-US" sz="950" u="none" cap="none" strike="noStrike">
                <a:solidFill>
                  <a:srgbClr val="AACC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950" u="none" cap="none" strike="noStrike">
                <a:solidFill>
                  <a:srgbClr val="AACCFF"/>
                </a:solidFill>
                <a:latin typeface="Consolas"/>
                <a:ea typeface="Consolas"/>
                <a:cs typeface="Consolas"/>
                <a:sym typeface="Consolas"/>
              </a:rPr>
              <a:t>    }]</a:t>
            </a:r>
            <a:br>
              <a:rPr b="0" i="0" lang="en-US" sz="950" u="none" cap="none" strike="noStrike">
                <a:solidFill>
                  <a:srgbClr val="AACC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950" u="none" cap="none" strike="noStrike">
                <a:solidFill>
                  <a:srgbClr val="AACCFF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br>
              <a:rPr b="0" i="0" lang="en-US" sz="950" u="none" cap="none" strike="noStrike">
                <a:solidFill>
                  <a:srgbClr val="AACCFF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b="0" i="0" lang="en-US" sz="950" u="none" cap="none" strike="noStrike">
                <a:solidFill>
                  <a:srgbClr val="AACC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950" u="none" cap="none" strike="noStrike">
                <a:solidFill>
                  <a:srgbClr val="61AFEF"/>
                </a:solidFill>
                <a:latin typeface="Consolas"/>
                <a:ea typeface="Consolas"/>
                <a:cs typeface="Consolas"/>
                <a:sym typeface="Consolas"/>
              </a:rPr>
              <a:t>print</a:t>
            </a:r>
            <a:r>
              <a:rPr b="0" i="0" lang="en-US" sz="950" u="none" cap="none" strike="noStrike">
                <a:solidFill>
                  <a:srgbClr val="AACCFF"/>
                </a:solidFill>
                <a:latin typeface="Consolas"/>
                <a:ea typeface="Consolas"/>
                <a:cs typeface="Consolas"/>
                <a:sym typeface="Consolas"/>
              </a:rPr>
              <a:t>(message.content[</a:t>
            </a:r>
            <a:r>
              <a:rPr b="0" i="0" lang="en-US" sz="950" u="none" cap="none" strike="noStrike">
                <a:solidFill>
                  <a:srgbClr val="D19A66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b="0" i="0" lang="en-US" sz="950" u="none" cap="none" strike="noStrike">
                <a:solidFill>
                  <a:srgbClr val="AACCFF"/>
                </a:solidFill>
                <a:latin typeface="Consolas"/>
                <a:ea typeface="Consolas"/>
                <a:cs typeface="Consolas"/>
                <a:sym typeface="Consolas"/>
              </a:rPr>
              <a:t>].text)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1" name="Google Shape;161;p6"/>
          <p:cNvCxnSpPr/>
          <p:nvPr/>
        </p:nvCxnSpPr>
        <p:spPr>
          <a:xfrm>
            <a:off x="5504688" y="1828800"/>
            <a:ext cx="320040" cy="0"/>
          </a:xfrm>
          <a:prstGeom prst="straightConnector1">
            <a:avLst/>
          </a:prstGeom>
          <a:noFill/>
          <a:ln cap="flat" cmpd="sng" w="12700">
            <a:solidFill>
              <a:srgbClr val="02C39A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62" name="Google Shape;162;p6"/>
          <p:cNvSpPr/>
          <p:nvPr/>
        </p:nvSpPr>
        <p:spPr>
          <a:xfrm>
            <a:off x="5852160" y="1444752"/>
            <a:ext cx="2971800" cy="914400"/>
          </a:xfrm>
          <a:prstGeom prst="rect">
            <a:avLst/>
          </a:prstGeom>
          <a:solidFill>
            <a:srgbClr val="0A3040"/>
          </a:solidFill>
          <a:ln cap="flat" cmpd="sng" w="127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6"/>
          <p:cNvSpPr/>
          <p:nvPr/>
        </p:nvSpPr>
        <p:spPr>
          <a:xfrm>
            <a:off x="5943600" y="1508760"/>
            <a:ext cx="2788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Client Anthropic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6"/>
          <p:cNvSpPr/>
          <p:nvPr/>
        </p:nvSpPr>
        <p:spPr>
          <a:xfrm>
            <a:off x="5943600" y="1810512"/>
            <a:ext cx="27889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Si legge la API key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dell'ambiente</a:t>
            </a: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automaticamente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5" name="Google Shape;165;p6"/>
          <p:cNvCxnSpPr/>
          <p:nvPr/>
        </p:nvCxnSpPr>
        <p:spPr>
          <a:xfrm>
            <a:off x="5504688" y="2651760"/>
            <a:ext cx="320040" cy="0"/>
          </a:xfrm>
          <a:prstGeom prst="straightConnector1">
            <a:avLst/>
          </a:prstGeom>
          <a:noFill/>
          <a:ln cap="flat" cmpd="sng" w="12700">
            <a:solidFill>
              <a:srgbClr val="E87722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66" name="Google Shape;166;p6"/>
          <p:cNvSpPr/>
          <p:nvPr/>
        </p:nvSpPr>
        <p:spPr>
          <a:xfrm>
            <a:off x="5852160" y="2482344"/>
            <a:ext cx="2971800" cy="914400"/>
          </a:xfrm>
          <a:prstGeom prst="rect">
            <a:avLst/>
          </a:prstGeom>
          <a:solidFill>
            <a:srgbClr val="0A3040"/>
          </a:solidFill>
          <a:ln cap="flat" cmpd="sng" w="12700">
            <a:solidFill>
              <a:srgbClr val="E877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6"/>
          <p:cNvSpPr/>
          <p:nvPr/>
        </p:nvSpPr>
        <p:spPr>
          <a:xfrm>
            <a:off x="5943538" y="2475870"/>
            <a:ext cx="2788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772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87722"/>
                </a:solidFill>
                <a:latin typeface="Calibri"/>
                <a:ea typeface="Calibri"/>
                <a:cs typeface="Calibri"/>
                <a:sym typeface="Calibri"/>
              </a:rPr>
              <a:t>model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6"/>
          <p:cNvSpPr/>
          <p:nvPr/>
        </p:nvSpPr>
        <p:spPr>
          <a:xfrm>
            <a:off x="5943600" y="2635904"/>
            <a:ext cx="27888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Il modello da usare.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Haiku = veloce ed economico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9" name="Google Shape;169;p6"/>
          <p:cNvCxnSpPr/>
          <p:nvPr/>
        </p:nvCxnSpPr>
        <p:spPr>
          <a:xfrm>
            <a:off x="5504688" y="3154680"/>
            <a:ext cx="320040" cy="0"/>
          </a:xfrm>
          <a:prstGeom prst="straightConnector1">
            <a:avLst/>
          </a:prstGeom>
          <a:noFill/>
          <a:ln cap="flat" cmpd="sng" w="12700">
            <a:solidFill>
              <a:srgbClr val="5B2D8E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70" name="Google Shape;170;p6"/>
          <p:cNvSpPr/>
          <p:nvPr/>
        </p:nvSpPr>
        <p:spPr>
          <a:xfrm>
            <a:off x="5852160" y="3077249"/>
            <a:ext cx="2971800" cy="914400"/>
          </a:xfrm>
          <a:prstGeom prst="rect">
            <a:avLst/>
          </a:prstGeom>
          <a:solidFill>
            <a:srgbClr val="0A3040"/>
          </a:solidFill>
          <a:ln cap="flat" cmpd="sng" w="12700">
            <a:solidFill>
              <a:srgbClr val="5B2D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6"/>
          <p:cNvSpPr/>
          <p:nvPr/>
        </p:nvSpPr>
        <p:spPr>
          <a:xfrm>
            <a:off x="5943600" y="3141257"/>
            <a:ext cx="2788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2D8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5B2D8E"/>
                </a:solidFill>
                <a:latin typeface="Calibri"/>
                <a:ea typeface="Calibri"/>
                <a:cs typeface="Calibri"/>
                <a:sym typeface="Calibri"/>
              </a:rPr>
              <a:t>messages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6"/>
          <p:cNvSpPr/>
          <p:nvPr/>
        </p:nvSpPr>
        <p:spPr>
          <a:xfrm>
            <a:off x="5943600" y="3443009"/>
            <a:ext cx="27888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Lista messaggi con role e content.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Ogni chiamata è stateless!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3" name="Google Shape;173;p6"/>
          <p:cNvCxnSpPr/>
          <p:nvPr/>
        </p:nvCxnSpPr>
        <p:spPr>
          <a:xfrm>
            <a:off x="5504688" y="4206240"/>
            <a:ext cx="320040" cy="0"/>
          </a:xfrm>
          <a:prstGeom prst="straightConnector1">
            <a:avLst/>
          </a:prstGeom>
          <a:noFill/>
          <a:ln cap="flat" cmpd="sng" w="12700">
            <a:solidFill>
              <a:srgbClr val="AACCFF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74" name="Google Shape;174;p6"/>
          <p:cNvSpPr/>
          <p:nvPr/>
        </p:nvSpPr>
        <p:spPr>
          <a:xfrm>
            <a:off x="5852160" y="4036824"/>
            <a:ext cx="2971800" cy="914400"/>
          </a:xfrm>
          <a:prstGeom prst="rect">
            <a:avLst/>
          </a:prstGeom>
          <a:solidFill>
            <a:srgbClr val="0A3040"/>
          </a:solidFill>
          <a:ln cap="flat" cmpd="sng" w="12700">
            <a:solidFill>
              <a:srgbClr val="AACC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6"/>
          <p:cNvSpPr/>
          <p:nvPr/>
        </p:nvSpPr>
        <p:spPr>
          <a:xfrm>
            <a:off x="5943600" y="4100832"/>
            <a:ext cx="2788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CC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AACCFF"/>
                </a:solidFill>
                <a:latin typeface="Calibri"/>
                <a:ea typeface="Calibri"/>
                <a:cs typeface="Calibri"/>
                <a:sym typeface="Calibri"/>
              </a:rPr>
              <a:t>content[0].text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6"/>
          <p:cNvSpPr/>
          <p:nvPr/>
        </p:nvSpPr>
        <p:spPr>
          <a:xfrm>
            <a:off x="5943600" y="4402584"/>
            <a:ext cx="27888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Il testo della risposta.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 risposta può avere più blocchi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7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2800"/>
              <a:buFont typeface="Arial Black"/>
              <a:buNone/>
            </a:pPr>
            <a:r>
              <a:rPr b="1" i="0" lang="en-US" sz="2800" u="none" cap="none" strike="noStrike">
                <a:solidFill>
                  <a:srgbClr val="065A82"/>
                </a:solidFill>
                <a:latin typeface="Arial Black"/>
                <a:ea typeface="Arial Black"/>
                <a:cs typeface="Arial Black"/>
                <a:sym typeface="Arial Black"/>
              </a:rPr>
              <a:t>Token e Temperature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7"/>
          <p:cNvSpPr/>
          <p:nvPr/>
        </p:nvSpPr>
        <p:spPr>
          <a:xfrm>
            <a:off x="457200" y="786384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8CA4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6B8CA4"/>
                </a:solidFill>
                <a:latin typeface="Calibri"/>
                <a:ea typeface="Calibri"/>
                <a:cs typeface="Calibri"/>
                <a:sym typeface="Calibri"/>
              </a:rPr>
              <a:t>I due parametri più importanti da capire subito — Huyen Cap. 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7"/>
          <p:cNvSpPr/>
          <p:nvPr/>
        </p:nvSpPr>
        <p:spPr>
          <a:xfrm>
            <a:off x="320040" y="1051560"/>
            <a:ext cx="3977640" cy="2606040"/>
          </a:xfrm>
          <a:prstGeom prst="rect">
            <a:avLst/>
          </a:prstGeom>
          <a:solidFill>
            <a:srgbClr val="F0F4F8"/>
          </a:solidFill>
          <a:ln cap="flat" cmpd="sng" w="12700">
            <a:solidFill>
              <a:srgbClr val="065A82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7"/>
          <p:cNvSpPr/>
          <p:nvPr/>
        </p:nvSpPr>
        <p:spPr>
          <a:xfrm>
            <a:off x="320040" y="1051560"/>
            <a:ext cx="3977640" cy="384048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7"/>
          <p:cNvSpPr/>
          <p:nvPr/>
        </p:nvSpPr>
        <p:spPr>
          <a:xfrm>
            <a:off x="411480" y="1097280"/>
            <a:ext cx="3794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🔤  Token — la valuta dei LLM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7"/>
          <p:cNvSpPr/>
          <p:nvPr/>
        </p:nvSpPr>
        <p:spPr>
          <a:xfrm>
            <a:off x="411480" y="1508760"/>
            <a:ext cx="37947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2E3B"/>
                </a:solidFill>
                <a:latin typeface="Calibri"/>
                <a:ea typeface="Calibri"/>
                <a:cs typeface="Calibri"/>
                <a:sym typeface="Calibri"/>
              </a:rPr>
              <a:t>I modelli non leggono parole — leggono token.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2E3B"/>
                </a:solidFill>
                <a:latin typeface="Calibri"/>
                <a:ea typeface="Calibri"/>
                <a:cs typeface="Calibri"/>
                <a:sym typeface="Calibri"/>
              </a:rPr>
              <a:t>~1 token = 3-4 caratteri in inglese, meno in italiano.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7"/>
          <p:cNvSpPr/>
          <p:nvPr/>
        </p:nvSpPr>
        <p:spPr>
          <a:xfrm>
            <a:off x="411480" y="2084832"/>
            <a:ext cx="3794760" cy="457200"/>
          </a:xfrm>
          <a:prstGeom prst="rect">
            <a:avLst/>
          </a:prstGeom>
          <a:solidFill>
            <a:srgbClr val="1E2A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7"/>
          <p:cNvSpPr/>
          <p:nvPr/>
        </p:nvSpPr>
        <p:spPr>
          <a:xfrm>
            <a:off x="457200" y="2130552"/>
            <a:ext cx="37033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000"/>
              <a:buFont typeface="Consolas"/>
              <a:buNone/>
            </a:pPr>
            <a:r>
              <a:rPr b="0" i="0" lang="en-US" sz="1000" u="none" cap="none" strike="noStrike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"Ciao" → 1 token    "Intelligenza" → 3-4 token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7"/>
          <p:cNvSpPr/>
          <p:nvPr/>
        </p:nvSpPr>
        <p:spPr>
          <a:xfrm>
            <a:off x="411480" y="2633472"/>
            <a:ext cx="37947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Perché conta: </a:t>
            </a:r>
            <a:r>
              <a:rPr b="0" i="0" lang="en-US" sz="1100" u="none" cap="none" strike="noStrike">
                <a:solidFill>
                  <a:srgbClr val="1A2E3B"/>
                </a:solidFill>
                <a:latin typeface="Calibri"/>
                <a:ea typeface="Calibri"/>
                <a:cs typeface="Calibri"/>
                <a:sym typeface="Calibri"/>
              </a:rPr>
              <a:t>le API si pagano per token. Max token = limite di risposta.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7"/>
          <p:cNvSpPr/>
          <p:nvPr/>
        </p:nvSpPr>
        <p:spPr>
          <a:xfrm>
            <a:off x="4572000" y="1051560"/>
            <a:ext cx="4251960" cy="2606040"/>
          </a:xfrm>
          <a:prstGeom prst="rect">
            <a:avLst/>
          </a:prstGeom>
          <a:solidFill>
            <a:srgbClr val="F0F4F8"/>
          </a:solidFill>
          <a:ln cap="flat" cmpd="sng" w="127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7"/>
          <p:cNvSpPr/>
          <p:nvPr/>
        </p:nvSpPr>
        <p:spPr>
          <a:xfrm>
            <a:off x="4572000" y="1051560"/>
            <a:ext cx="4251960" cy="384048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7"/>
          <p:cNvSpPr/>
          <p:nvPr/>
        </p:nvSpPr>
        <p:spPr>
          <a:xfrm>
            <a:off x="4663440" y="1097280"/>
            <a:ext cx="4069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🌡️  Temperature — creatività vs precisione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7"/>
          <p:cNvSpPr/>
          <p:nvPr/>
        </p:nvSpPr>
        <p:spPr>
          <a:xfrm>
            <a:off x="4663440" y="1508760"/>
            <a:ext cx="1234440" cy="3200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7"/>
          <p:cNvSpPr/>
          <p:nvPr/>
        </p:nvSpPr>
        <p:spPr>
          <a:xfrm>
            <a:off x="4663440" y="1508760"/>
            <a:ext cx="1234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0.0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7"/>
          <p:cNvSpPr/>
          <p:nvPr/>
        </p:nvSpPr>
        <p:spPr>
          <a:xfrm>
            <a:off x="4663440" y="1874520"/>
            <a:ext cx="12344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Deterministico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7"/>
          <p:cNvSpPr/>
          <p:nvPr/>
        </p:nvSpPr>
        <p:spPr>
          <a:xfrm>
            <a:off x="4663440" y="2130552"/>
            <a:ext cx="12344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A2E3B"/>
                </a:solidFill>
                <a:latin typeface="Calibri"/>
                <a:ea typeface="Calibri"/>
                <a:cs typeface="Calibri"/>
                <a:sym typeface="Calibri"/>
              </a:rPr>
              <a:t>Sempre la stessa risposta.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A2E3B"/>
                </a:solidFill>
                <a:latin typeface="Calibri"/>
                <a:ea typeface="Calibri"/>
                <a:cs typeface="Calibri"/>
                <a:sym typeface="Calibri"/>
              </a:rPr>
              <a:t>Usa per: codice, calcoli, fatti.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7"/>
          <p:cNvSpPr/>
          <p:nvPr/>
        </p:nvSpPr>
        <p:spPr>
          <a:xfrm>
            <a:off x="5989320" y="1508760"/>
            <a:ext cx="1234440" cy="32004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7"/>
          <p:cNvSpPr/>
          <p:nvPr/>
        </p:nvSpPr>
        <p:spPr>
          <a:xfrm>
            <a:off x="5989320" y="1508760"/>
            <a:ext cx="1234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0.7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7"/>
          <p:cNvSpPr/>
          <p:nvPr/>
        </p:nvSpPr>
        <p:spPr>
          <a:xfrm>
            <a:off x="5989320" y="1874520"/>
            <a:ext cx="12344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Bilanciato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7"/>
          <p:cNvSpPr/>
          <p:nvPr/>
        </p:nvSpPr>
        <p:spPr>
          <a:xfrm>
            <a:off x="5989320" y="2130552"/>
            <a:ext cx="12344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A2E3B"/>
                </a:solidFill>
                <a:latin typeface="Calibri"/>
                <a:ea typeface="Calibri"/>
                <a:cs typeface="Calibri"/>
                <a:sym typeface="Calibri"/>
              </a:rPr>
              <a:t>Default consigliato.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A2E3B"/>
                </a:solidFill>
                <a:latin typeface="Calibri"/>
                <a:ea typeface="Calibri"/>
                <a:cs typeface="Calibri"/>
                <a:sym typeface="Calibri"/>
              </a:rPr>
              <a:t>Buono per la maggior parte.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7"/>
          <p:cNvSpPr/>
          <p:nvPr/>
        </p:nvSpPr>
        <p:spPr>
          <a:xfrm>
            <a:off x="7315200" y="1508760"/>
            <a:ext cx="1234440" cy="32004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7"/>
          <p:cNvSpPr/>
          <p:nvPr/>
        </p:nvSpPr>
        <p:spPr>
          <a:xfrm>
            <a:off x="7315200" y="1508760"/>
            <a:ext cx="1234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onsolas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1.0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7"/>
          <p:cNvSpPr/>
          <p:nvPr/>
        </p:nvSpPr>
        <p:spPr>
          <a:xfrm>
            <a:off x="7315200" y="1874520"/>
            <a:ext cx="12344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7722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E87722"/>
                </a:solidFill>
                <a:latin typeface="Calibri"/>
                <a:ea typeface="Calibri"/>
                <a:cs typeface="Calibri"/>
                <a:sym typeface="Calibri"/>
              </a:rPr>
              <a:t>Creativo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7"/>
          <p:cNvSpPr/>
          <p:nvPr/>
        </p:nvSpPr>
        <p:spPr>
          <a:xfrm>
            <a:off x="7315200" y="2130552"/>
            <a:ext cx="12344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A2E3B"/>
                </a:solidFill>
                <a:latin typeface="Calibri"/>
                <a:ea typeface="Calibri"/>
                <a:cs typeface="Calibri"/>
                <a:sym typeface="Calibri"/>
              </a:rPr>
              <a:t>Risposta variabile.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1A2E3B"/>
                </a:solidFill>
                <a:latin typeface="Calibri"/>
                <a:ea typeface="Calibri"/>
                <a:cs typeface="Calibri"/>
                <a:sym typeface="Calibri"/>
              </a:rPr>
              <a:t>Usa per: scrittura, idee.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7"/>
          <p:cNvSpPr/>
          <p:nvPr/>
        </p:nvSpPr>
        <p:spPr>
          <a:xfrm>
            <a:off x="4663440" y="2724912"/>
            <a:ext cx="40690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💡  Analogia: il dado — temperature 0 = non tirare, prendi sempre il numero più alto.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7"/>
          <p:cNvSpPr/>
          <p:nvPr/>
        </p:nvSpPr>
        <p:spPr>
          <a:xfrm>
            <a:off x="320040" y="3767328"/>
            <a:ext cx="8503920" cy="1115568"/>
          </a:xfrm>
          <a:prstGeom prst="rect">
            <a:avLst/>
          </a:prstGeom>
          <a:solidFill>
            <a:srgbClr val="D6E4F7"/>
          </a:solidFill>
          <a:ln cap="flat" cmpd="sng" w="12700">
            <a:solidFill>
              <a:srgbClr val="065A8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7"/>
          <p:cNvSpPr/>
          <p:nvPr/>
        </p:nvSpPr>
        <p:spPr>
          <a:xfrm>
            <a:off x="411480" y="384048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💰  Costo Haiku: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7"/>
          <p:cNvSpPr/>
          <p:nvPr/>
        </p:nvSpPr>
        <p:spPr>
          <a:xfrm>
            <a:off x="411480" y="4133088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E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2E3B"/>
                </a:solidFill>
                <a:latin typeface="Calibri"/>
                <a:ea typeface="Calibri"/>
                <a:cs typeface="Calibri"/>
                <a:sym typeface="Calibri"/>
              </a:rPr>
              <a:t>$1 / milione di token INPUT  •  $5 / milione di token OUTPUT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7"/>
          <p:cNvSpPr/>
          <p:nvPr/>
        </p:nvSpPr>
        <p:spPr>
          <a:xfrm>
            <a:off x="5074920" y="3822192"/>
            <a:ext cx="3520440" cy="96012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7"/>
          <p:cNvSpPr/>
          <p:nvPr/>
        </p:nvSpPr>
        <p:spPr>
          <a:xfrm>
            <a:off x="5166360" y="3886200"/>
            <a:ext cx="33375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Una lezione completa di esercizi ≈ $0.03–0.05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Intero corso ≈ $0.20–0.30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C7293"/>
        </a:solidFill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8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System Prompt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8"/>
          <p:cNvSpPr/>
          <p:nvPr/>
        </p:nvSpPr>
        <p:spPr>
          <a:xfrm>
            <a:off x="457200" y="850392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La 'personalità' del chatbot — imposta il contesto per tutta la conversazione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8"/>
          <p:cNvSpPr/>
          <p:nvPr/>
        </p:nvSpPr>
        <p:spPr>
          <a:xfrm>
            <a:off x="365760" y="1143000"/>
            <a:ext cx="5029200" cy="3749040"/>
          </a:xfrm>
          <a:prstGeom prst="rect">
            <a:avLst/>
          </a:prstGeom>
          <a:solidFill>
            <a:srgbClr val="0A1A2A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8"/>
          <p:cNvSpPr/>
          <p:nvPr/>
        </p:nvSpPr>
        <p:spPr>
          <a:xfrm>
            <a:off x="502920" y="1234440"/>
            <a:ext cx="484632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CCFF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AACCFF"/>
                </a:solidFill>
                <a:latin typeface="Consolas"/>
                <a:ea typeface="Consolas"/>
                <a:cs typeface="Consolas"/>
                <a:sym typeface="Consolas"/>
              </a:rPr>
              <a:t>message = client.messages.create(</a:t>
            </a:r>
            <a:br>
              <a:rPr b="0" i="0" lang="en-US" sz="950" u="none" cap="none" strike="noStrike">
                <a:solidFill>
                  <a:srgbClr val="AACC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950" u="none" cap="none" strike="noStrike">
                <a:solidFill>
                  <a:srgbClr val="AACCFF"/>
                </a:solidFill>
                <a:latin typeface="Consolas"/>
                <a:ea typeface="Consolas"/>
                <a:cs typeface="Consolas"/>
                <a:sym typeface="Consolas"/>
              </a:rPr>
              <a:t>    model=</a:t>
            </a:r>
            <a:r>
              <a:rPr b="0" i="0" lang="en-US" sz="950" u="none" cap="none" strike="noStrike">
                <a:solidFill>
                  <a:srgbClr val="E5C07B"/>
                </a:solidFill>
                <a:latin typeface="Consolas"/>
                <a:ea typeface="Consolas"/>
                <a:cs typeface="Consolas"/>
                <a:sym typeface="Consolas"/>
              </a:rPr>
              <a:t>"claude-haiku-4-5-20251001"</a:t>
            </a:r>
            <a:r>
              <a:rPr b="0" i="0" lang="en-US" sz="950" u="none" cap="none" strike="noStrike">
                <a:solidFill>
                  <a:srgbClr val="AACCFF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CCFF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AACCFF"/>
                </a:solidFill>
                <a:latin typeface="Consolas"/>
                <a:ea typeface="Consolas"/>
                <a:cs typeface="Consolas"/>
                <a:sym typeface="Consolas"/>
              </a:rPr>
              <a:t>    max_tokens=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19A66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D19A66"/>
                </a:solidFill>
                <a:latin typeface="Consolas"/>
                <a:ea typeface="Consolas"/>
                <a:cs typeface="Consolas"/>
                <a:sym typeface="Consolas"/>
              </a:rPr>
              <a:t>500</a:t>
            </a:r>
            <a:r>
              <a:rPr b="0" i="0" lang="en-US" sz="950" u="none" cap="none" strike="noStrike">
                <a:solidFill>
                  <a:srgbClr val="AACCFF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CCFF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AACCFF"/>
                </a:solidFill>
                <a:latin typeface="Consolas"/>
                <a:ea typeface="Consolas"/>
                <a:cs typeface="Consolas"/>
                <a:sym typeface="Consolas"/>
              </a:rPr>
              <a:t>    temperature=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19A66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D19A66"/>
                </a:solidFill>
                <a:latin typeface="Consolas"/>
                <a:ea typeface="Consolas"/>
                <a:cs typeface="Consolas"/>
                <a:sym typeface="Consolas"/>
              </a:rPr>
              <a:t>0.7</a:t>
            </a:r>
            <a:r>
              <a:rPr b="0" i="0" lang="en-US" sz="950" u="none" cap="none" strike="noStrike">
                <a:solidFill>
                  <a:srgbClr val="AACCFF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CCFF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AACCFF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6370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5C6370"/>
                </a:solidFill>
                <a:latin typeface="Consolas"/>
                <a:ea typeface="Consolas"/>
                <a:cs typeface="Consolas"/>
                <a:sym typeface="Consolas"/>
              </a:rPr>
              <a:t># IL SYSTEM PROMPT</a:t>
            </a:r>
            <a:br>
              <a:rPr b="0" i="0" lang="en-US" sz="950" u="none" cap="none" strike="noStrike">
                <a:solidFill>
                  <a:srgbClr val="5C6370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950" u="none" cap="none" strike="noStrike">
                <a:solidFill>
                  <a:srgbClr val="AACCFF"/>
                </a:solidFill>
                <a:latin typeface="Consolas"/>
                <a:ea typeface="Consolas"/>
                <a:cs typeface="Consolas"/>
                <a:sym typeface="Consolas"/>
              </a:rPr>
              <a:t>    system=</a:t>
            </a:r>
            <a:r>
              <a:rPr b="0" i="0" lang="en-US" sz="950" u="none" cap="none" strike="noStrike">
                <a:solidFill>
                  <a:srgbClr val="E5C07B"/>
                </a:solidFill>
                <a:latin typeface="Consolas"/>
                <a:ea typeface="Consolas"/>
                <a:cs typeface="Consolas"/>
                <a:sym typeface="Consolas"/>
              </a:rPr>
              <a:t>"""</a:t>
            </a:r>
            <a:br>
              <a:rPr b="0" i="0" lang="en-US" sz="950" u="none" cap="none" strike="noStrike">
                <a:solidFill>
                  <a:srgbClr val="E5C07B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950" u="none" cap="none" strike="noStrike">
                <a:solidFill>
                  <a:srgbClr val="98C379"/>
                </a:solidFill>
                <a:latin typeface="Consolas"/>
                <a:ea typeface="Consolas"/>
                <a:cs typeface="Consolas"/>
                <a:sym typeface="Consolas"/>
              </a:rPr>
              <a:t>    Sei l'assistente di WiData Srl,</a:t>
            </a:r>
            <a:br>
              <a:rPr b="0" i="0" lang="en-US" sz="950" u="none" cap="none" strike="noStrike">
                <a:solidFill>
                  <a:srgbClr val="98C379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950" u="none" cap="none" strike="noStrike">
                <a:solidFill>
                  <a:srgbClr val="98C379"/>
                </a:solidFill>
                <a:latin typeface="Consolas"/>
                <a:ea typeface="Consolas"/>
                <a:cs typeface="Consolas"/>
                <a:sym typeface="Consolas"/>
              </a:rPr>
              <a:t>    startup IoT di Sassari.</a:t>
            </a:r>
            <a:br>
              <a:rPr b="0" i="0" lang="en-US" sz="950" u="none" cap="none" strike="noStrike">
                <a:solidFill>
                  <a:srgbClr val="98C379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950" u="none" cap="none" strike="noStrike">
                <a:solidFill>
                  <a:srgbClr val="98C379"/>
                </a:solidFill>
                <a:latin typeface="Consolas"/>
                <a:ea typeface="Consolas"/>
                <a:cs typeface="Consolas"/>
                <a:sym typeface="Consolas"/>
              </a:rPr>
              <a:t>    Rispondi in modo professionale.</a:t>
            </a:r>
            <a:br>
              <a:rPr b="0" i="0" lang="en-US" sz="950" u="none" cap="none" strike="noStrike">
                <a:solidFill>
                  <a:srgbClr val="98C379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950" u="none" cap="none" strike="noStrike">
                <a:solidFill>
                  <a:srgbClr val="98C379"/>
                </a:solidFill>
                <a:latin typeface="Consolas"/>
                <a:ea typeface="Consolas"/>
                <a:cs typeface="Consolas"/>
                <a:sym typeface="Consolas"/>
              </a:rPr>
              <a:t>    Non inventare informazioni.</a:t>
            </a:r>
            <a:br>
              <a:rPr b="0" i="0" lang="en-US" sz="950" u="none" cap="none" strike="noStrike">
                <a:solidFill>
                  <a:srgbClr val="98C379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950" u="none" cap="none" strike="noStrike">
                <a:solidFill>
                  <a:srgbClr val="E5C07B"/>
                </a:solidFill>
                <a:latin typeface="Consolas"/>
                <a:ea typeface="Consolas"/>
                <a:cs typeface="Consolas"/>
                <a:sym typeface="Consolas"/>
              </a:rPr>
              <a:t>    """</a:t>
            </a:r>
            <a:r>
              <a:rPr b="0" i="0" lang="en-US" sz="950" u="none" cap="none" strike="noStrike">
                <a:solidFill>
                  <a:srgbClr val="AACCFF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br>
              <a:rPr b="0" i="0" lang="en-US" sz="950" u="none" cap="none" strike="noStrike">
                <a:solidFill>
                  <a:srgbClr val="AACCFF"/>
                </a:solidFill>
                <a:latin typeface="Consolas"/>
                <a:ea typeface="Consolas"/>
                <a:cs typeface="Consolas"/>
                <a:sym typeface="Consolas"/>
              </a:rPr>
            </a:br>
            <a:br>
              <a:rPr b="0" i="0" lang="en-US" sz="950" u="none" cap="none" strike="noStrike">
                <a:solidFill>
                  <a:srgbClr val="AACC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950" u="none" cap="none" strike="noStrike">
                <a:solidFill>
                  <a:srgbClr val="AACCFF"/>
                </a:solidFill>
                <a:latin typeface="Consolas"/>
                <a:ea typeface="Consolas"/>
                <a:cs typeface="Consolas"/>
                <a:sym typeface="Consolas"/>
              </a:rPr>
              <a:t>    messages=[{</a:t>
            </a:r>
            <a:br>
              <a:rPr b="0" i="0" lang="en-US" sz="950" u="none" cap="none" strike="noStrike">
                <a:solidFill>
                  <a:srgbClr val="AACC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950" u="none" cap="none" strike="noStrike">
                <a:solidFill>
                  <a:srgbClr val="AACCFF"/>
                </a:solidFill>
                <a:latin typeface="Consolas"/>
                <a:ea typeface="Consolas"/>
                <a:cs typeface="Consolas"/>
                <a:sym typeface="Consolas"/>
              </a:rPr>
              <a:t>        "role": "user",</a:t>
            </a:r>
            <a:br>
              <a:rPr b="0" i="0" lang="en-US" sz="950" u="none" cap="none" strike="noStrike">
                <a:solidFill>
                  <a:srgbClr val="AACCFF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950" u="none" cap="none" strike="noStrike">
                <a:solidFill>
                  <a:srgbClr val="E5C07B"/>
                </a:solidFill>
                <a:latin typeface="Consolas"/>
                <a:ea typeface="Consolas"/>
                <a:cs typeface="Consolas"/>
                <a:sym typeface="Consolas"/>
              </a:rPr>
              <a:t>        "content": "Ciao!"</a:t>
            </a:r>
            <a:br>
              <a:rPr b="0" i="0" lang="en-US" sz="950" u="none" cap="none" strike="noStrike">
                <a:solidFill>
                  <a:srgbClr val="E5C07B"/>
                </a:solidFill>
                <a:latin typeface="Consolas"/>
                <a:ea typeface="Consolas"/>
                <a:cs typeface="Consolas"/>
                <a:sym typeface="Consolas"/>
              </a:rPr>
            </a:br>
            <a:r>
              <a:rPr b="0" i="0" lang="en-US" sz="950" u="none" cap="none" strike="noStrike">
                <a:solidFill>
                  <a:srgbClr val="AACCFF"/>
                </a:solidFill>
                <a:latin typeface="Consolas"/>
                <a:ea typeface="Consolas"/>
                <a:cs typeface="Consolas"/>
                <a:sym typeface="Consolas"/>
              </a:rPr>
              <a:t>    }]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CCFF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AACCFF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1" name="Google Shape;221;p8"/>
          <p:cNvCxnSpPr/>
          <p:nvPr/>
        </p:nvCxnSpPr>
        <p:spPr>
          <a:xfrm>
            <a:off x="5440680" y="1920240"/>
            <a:ext cx="320040" cy="0"/>
          </a:xfrm>
          <a:prstGeom prst="straightConnector1">
            <a:avLst/>
          </a:prstGeom>
          <a:noFill/>
          <a:ln cap="flat" cmpd="sng" w="12700">
            <a:solidFill>
              <a:srgbClr val="02C39A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222" name="Google Shape;222;p8"/>
          <p:cNvSpPr/>
          <p:nvPr/>
        </p:nvSpPr>
        <p:spPr>
          <a:xfrm>
            <a:off x="5806440" y="1142992"/>
            <a:ext cx="3017400" cy="914400"/>
          </a:xfrm>
          <a:prstGeom prst="rect">
            <a:avLst/>
          </a:prstGeom>
          <a:solidFill>
            <a:srgbClr val="0A3040"/>
          </a:solidFill>
          <a:ln cap="flat" cmpd="sng" w="12700">
            <a:solidFill>
              <a:srgbClr val="02C39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8"/>
          <p:cNvSpPr/>
          <p:nvPr/>
        </p:nvSpPr>
        <p:spPr>
          <a:xfrm>
            <a:off x="5897880" y="1207000"/>
            <a:ext cx="2834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02C39A"/>
                </a:solidFill>
                <a:latin typeface="Consolas"/>
                <a:ea typeface="Consolas"/>
                <a:cs typeface="Consolas"/>
                <a:sym typeface="Consolas"/>
              </a:rPr>
              <a:t>model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8"/>
          <p:cNvSpPr/>
          <p:nvPr/>
        </p:nvSpPr>
        <p:spPr>
          <a:xfrm>
            <a:off x="5897880" y="1508752"/>
            <a:ext cx="28347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Modello da usare.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Haiku: veloce e economico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5" name="Google Shape;225;p8"/>
          <p:cNvCxnSpPr/>
          <p:nvPr/>
        </p:nvCxnSpPr>
        <p:spPr>
          <a:xfrm>
            <a:off x="5440680" y="2514600"/>
            <a:ext cx="320040" cy="0"/>
          </a:xfrm>
          <a:prstGeom prst="straightConnector1">
            <a:avLst/>
          </a:prstGeom>
          <a:noFill/>
          <a:ln cap="flat" cmpd="sng" w="12700">
            <a:solidFill>
              <a:srgbClr val="E87722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226" name="Google Shape;226;p8"/>
          <p:cNvSpPr/>
          <p:nvPr/>
        </p:nvSpPr>
        <p:spPr>
          <a:xfrm>
            <a:off x="5806440" y="2130552"/>
            <a:ext cx="3017520" cy="914400"/>
          </a:xfrm>
          <a:prstGeom prst="rect">
            <a:avLst/>
          </a:prstGeom>
          <a:solidFill>
            <a:srgbClr val="0A3040"/>
          </a:solidFill>
          <a:ln cap="flat" cmpd="sng" w="12700">
            <a:solidFill>
              <a:srgbClr val="E877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8"/>
          <p:cNvSpPr/>
          <p:nvPr/>
        </p:nvSpPr>
        <p:spPr>
          <a:xfrm>
            <a:off x="5897880" y="2194560"/>
            <a:ext cx="2834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7722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E87722"/>
                </a:solidFill>
                <a:latin typeface="Consolas"/>
                <a:ea typeface="Consolas"/>
                <a:cs typeface="Consolas"/>
                <a:sym typeface="Consolas"/>
              </a:rPr>
              <a:t>temperature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8"/>
          <p:cNvSpPr/>
          <p:nvPr/>
        </p:nvSpPr>
        <p:spPr>
          <a:xfrm>
            <a:off x="5897880" y="2496312"/>
            <a:ext cx="28346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0.7 = bilanciato.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Cambialo negli esercizi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9" name="Google Shape;229;p8"/>
          <p:cNvCxnSpPr/>
          <p:nvPr/>
        </p:nvCxnSpPr>
        <p:spPr>
          <a:xfrm>
            <a:off x="5440680" y="3246120"/>
            <a:ext cx="320040" cy="0"/>
          </a:xfrm>
          <a:prstGeom prst="straightConnector1">
            <a:avLst/>
          </a:prstGeom>
          <a:noFill/>
          <a:ln cap="flat" cmpd="sng" w="12700">
            <a:solidFill>
              <a:srgbClr val="98C379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230" name="Google Shape;230;p8"/>
          <p:cNvSpPr/>
          <p:nvPr/>
        </p:nvSpPr>
        <p:spPr>
          <a:xfrm>
            <a:off x="5806440" y="3130362"/>
            <a:ext cx="3017400" cy="914400"/>
          </a:xfrm>
          <a:prstGeom prst="rect">
            <a:avLst/>
          </a:prstGeom>
          <a:solidFill>
            <a:srgbClr val="0A3040"/>
          </a:solidFill>
          <a:ln cap="flat" cmpd="sng" w="12700">
            <a:solidFill>
              <a:srgbClr val="98C3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8"/>
          <p:cNvSpPr/>
          <p:nvPr/>
        </p:nvSpPr>
        <p:spPr>
          <a:xfrm>
            <a:off x="5897880" y="3194370"/>
            <a:ext cx="2834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8C379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98C379"/>
                </a:solidFill>
                <a:latin typeface="Consolas"/>
                <a:ea typeface="Consolas"/>
                <a:cs typeface="Consolas"/>
                <a:sym typeface="Consolas"/>
              </a:rPr>
              <a:t>system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8"/>
          <p:cNvSpPr/>
          <p:nvPr/>
        </p:nvSpPr>
        <p:spPr>
          <a:xfrm>
            <a:off x="5897880" y="3496122"/>
            <a:ext cx="28347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Istruzioni globali per il chatbot.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Persistono per tutta la sessione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3" name="Google Shape;233;p8"/>
          <p:cNvCxnSpPr/>
          <p:nvPr/>
        </p:nvCxnSpPr>
        <p:spPr>
          <a:xfrm>
            <a:off x="5440680" y="4297680"/>
            <a:ext cx="320040" cy="0"/>
          </a:xfrm>
          <a:prstGeom prst="straightConnector1">
            <a:avLst/>
          </a:prstGeom>
          <a:noFill/>
          <a:ln cap="flat" cmpd="sng" w="12700">
            <a:solidFill>
              <a:srgbClr val="5B2D8E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234" name="Google Shape;234;p8"/>
          <p:cNvSpPr/>
          <p:nvPr/>
        </p:nvSpPr>
        <p:spPr>
          <a:xfrm>
            <a:off x="5806440" y="4197253"/>
            <a:ext cx="3017400" cy="914400"/>
          </a:xfrm>
          <a:prstGeom prst="rect">
            <a:avLst/>
          </a:prstGeom>
          <a:solidFill>
            <a:srgbClr val="0A3040"/>
          </a:solidFill>
          <a:ln cap="flat" cmpd="sng" w="12700">
            <a:solidFill>
              <a:srgbClr val="5B2D8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8"/>
          <p:cNvSpPr/>
          <p:nvPr/>
        </p:nvSpPr>
        <p:spPr>
          <a:xfrm>
            <a:off x="5897880" y="4261261"/>
            <a:ext cx="2834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2D8E"/>
              </a:buClr>
              <a:buSzPts val="1200"/>
              <a:buFont typeface="Consolas"/>
              <a:buNone/>
            </a:pPr>
            <a:r>
              <a:rPr b="1" i="0" lang="en-US" sz="1200" u="none" cap="none" strike="noStrike">
                <a:solidFill>
                  <a:srgbClr val="5B2D8E"/>
                </a:solidFill>
                <a:latin typeface="Consolas"/>
                <a:ea typeface="Consolas"/>
                <a:cs typeface="Consolas"/>
                <a:sym typeface="Consolas"/>
              </a:rPr>
              <a:t>messages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8"/>
          <p:cNvSpPr/>
          <p:nvPr/>
        </p:nvSpPr>
        <p:spPr>
          <a:xfrm>
            <a:off x="5897880" y="4563013"/>
            <a:ext cx="28347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Lista messaggi user/assistant.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Ogni chiamata è stateless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3A5A"/>
        </a:solidFill>
      </p:bgPr>
    </p:bg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9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 Black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💻 Laboratorio — Esercizi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9"/>
          <p:cNvSpPr/>
          <p:nvPr/>
        </p:nvSpPr>
        <p:spPr>
          <a:xfrm>
            <a:off x="457200" y="804672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Obiettivo: prima chiamata funzionante + sperimentazione parametri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9"/>
          <p:cNvSpPr/>
          <p:nvPr/>
        </p:nvSpPr>
        <p:spPr>
          <a:xfrm>
            <a:off x="365760" y="1234440"/>
            <a:ext cx="4114800" cy="1645920"/>
          </a:xfrm>
          <a:prstGeom prst="rect">
            <a:avLst/>
          </a:prstGeom>
          <a:solidFill>
            <a:srgbClr val="0F2D45"/>
          </a:solidFill>
          <a:ln cap="flat" cmpd="sng" w="12700">
            <a:solidFill>
              <a:srgbClr val="1C5A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9"/>
          <p:cNvSpPr/>
          <p:nvPr/>
        </p:nvSpPr>
        <p:spPr>
          <a:xfrm>
            <a:off x="457200" y="1371600"/>
            <a:ext cx="457200" cy="45720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9"/>
          <p:cNvSpPr/>
          <p:nvPr/>
        </p:nvSpPr>
        <p:spPr>
          <a:xfrm>
            <a:off x="457200" y="1371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 Black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9"/>
          <p:cNvSpPr/>
          <p:nvPr/>
        </p:nvSpPr>
        <p:spPr>
          <a:xfrm>
            <a:off x="1024128" y="1344168"/>
            <a:ext cx="3291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Hello Claude!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9"/>
          <p:cNvSpPr/>
          <p:nvPr/>
        </p:nvSpPr>
        <p:spPr>
          <a:xfrm>
            <a:off x="1024128" y="1645920"/>
            <a:ext cx="32918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★☆☆  Base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9"/>
          <p:cNvSpPr/>
          <p:nvPr/>
        </p:nvSpPr>
        <p:spPr>
          <a:xfrm>
            <a:off x="475488" y="1920240"/>
            <a:ext cx="3931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CCC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ACCCC"/>
                </a:solidFill>
                <a:latin typeface="Calibri"/>
                <a:ea typeface="Calibri"/>
                <a:cs typeface="Calibri"/>
                <a:sym typeface="Calibri"/>
              </a:rPr>
              <a:t>Esegui hello_claude.py (o il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CCC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ACCCC"/>
                </a:solidFill>
                <a:latin typeface="Calibri"/>
                <a:ea typeface="Calibri"/>
                <a:cs typeface="Calibri"/>
                <a:sym typeface="Calibri"/>
              </a:rPr>
              <a:t>notebook Colab). Modifica la domanda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CCC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ACCCC"/>
                </a:solidFill>
                <a:latin typeface="Calibri"/>
                <a:ea typeface="Calibri"/>
                <a:cs typeface="Calibri"/>
                <a:sym typeface="Calibri"/>
              </a:rPr>
              <a:t>e osserva la risposta.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9"/>
          <p:cNvSpPr/>
          <p:nvPr/>
        </p:nvSpPr>
        <p:spPr>
          <a:xfrm>
            <a:off x="4754880" y="1234440"/>
            <a:ext cx="4114800" cy="1645920"/>
          </a:xfrm>
          <a:prstGeom prst="rect">
            <a:avLst/>
          </a:prstGeom>
          <a:solidFill>
            <a:srgbClr val="0F2D45"/>
          </a:solidFill>
          <a:ln cap="flat" cmpd="sng" w="12700">
            <a:solidFill>
              <a:srgbClr val="1C5A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9"/>
          <p:cNvSpPr/>
          <p:nvPr/>
        </p:nvSpPr>
        <p:spPr>
          <a:xfrm>
            <a:off x="4846320" y="1371600"/>
            <a:ext cx="457200" cy="457200"/>
          </a:xfrm>
          <a:prstGeom prst="ellipse">
            <a:avLst/>
          </a:prstGeom>
          <a:solidFill>
            <a:srgbClr val="E877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9"/>
          <p:cNvSpPr/>
          <p:nvPr/>
        </p:nvSpPr>
        <p:spPr>
          <a:xfrm>
            <a:off x="4846320" y="1371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 Black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9"/>
          <p:cNvSpPr/>
          <p:nvPr/>
        </p:nvSpPr>
        <p:spPr>
          <a:xfrm>
            <a:off x="5413248" y="1344168"/>
            <a:ext cx="3291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Sperimenta la temperature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9"/>
          <p:cNvSpPr/>
          <p:nvPr/>
        </p:nvSpPr>
        <p:spPr>
          <a:xfrm>
            <a:off x="5413248" y="1645920"/>
            <a:ext cx="32918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7722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E87722"/>
                </a:solidFill>
                <a:latin typeface="Calibri"/>
                <a:ea typeface="Calibri"/>
                <a:cs typeface="Calibri"/>
                <a:sym typeface="Calibri"/>
              </a:rPr>
              <a:t>★★☆  Intermedio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9"/>
          <p:cNvSpPr/>
          <p:nvPr/>
        </p:nvSpPr>
        <p:spPr>
          <a:xfrm>
            <a:off x="4864608" y="1920240"/>
            <a:ext cx="3931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CCC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ACCCC"/>
                </a:solidFill>
                <a:latin typeface="Calibri"/>
                <a:ea typeface="Calibri"/>
                <a:cs typeface="Calibri"/>
                <a:sym typeface="Calibri"/>
              </a:rPr>
              <a:t>Fai la stessa domanda 3 volte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CCC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ACCCC"/>
                </a:solidFill>
                <a:latin typeface="Calibri"/>
                <a:ea typeface="Calibri"/>
                <a:cs typeface="Calibri"/>
                <a:sym typeface="Calibri"/>
              </a:rPr>
              <a:t>con temperature=0 e 3 volte con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CCC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ACCCC"/>
                </a:solidFill>
                <a:latin typeface="Calibri"/>
                <a:ea typeface="Calibri"/>
                <a:cs typeface="Calibri"/>
                <a:sym typeface="Calibri"/>
              </a:rPr>
              <a:t>temperature=1. Cosa cambia?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9"/>
          <p:cNvSpPr/>
          <p:nvPr/>
        </p:nvSpPr>
        <p:spPr>
          <a:xfrm>
            <a:off x="365760" y="3017520"/>
            <a:ext cx="4114800" cy="1645920"/>
          </a:xfrm>
          <a:prstGeom prst="rect">
            <a:avLst/>
          </a:prstGeom>
          <a:solidFill>
            <a:srgbClr val="0F2D45"/>
          </a:solidFill>
          <a:ln cap="flat" cmpd="sng" w="12700">
            <a:solidFill>
              <a:srgbClr val="1C5A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9"/>
          <p:cNvSpPr/>
          <p:nvPr/>
        </p:nvSpPr>
        <p:spPr>
          <a:xfrm>
            <a:off x="457200" y="3154680"/>
            <a:ext cx="457200" cy="457200"/>
          </a:xfrm>
          <a:prstGeom prst="ellipse">
            <a:avLst/>
          </a:prstGeom>
          <a:solidFill>
            <a:srgbClr val="E877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9"/>
          <p:cNvSpPr/>
          <p:nvPr/>
        </p:nvSpPr>
        <p:spPr>
          <a:xfrm>
            <a:off x="457200" y="315468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 Black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9"/>
          <p:cNvSpPr/>
          <p:nvPr/>
        </p:nvSpPr>
        <p:spPr>
          <a:xfrm>
            <a:off x="1024128" y="3127248"/>
            <a:ext cx="3291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System prompt diversi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9"/>
          <p:cNvSpPr/>
          <p:nvPr/>
        </p:nvSpPr>
        <p:spPr>
          <a:xfrm>
            <a:off x="1024128" y="3429000"/>
            <a:ext cx="32918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7722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E87722"/>
                </a:solidFill>
                <a:latin typeface="Calibri"/>
                <a:ea typeface="Calibri"/>
                <a:cs typeface="Calibri"/>
                <a:sym typeface="Calibri"/>
              </a:rPr>
              <a:t>★★☆  Intermedio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9"/>
          <p:cNvSpPr/>
          <p:nvPr/>
        </p:nvSpPr>
        <p:spPr>
          <a:xfrm>
            <a:off x="475488" y="3703320"/>
            <a:ext cx="3931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CCC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ACCCC"/>
                </a:solidFill>
                <a:latin typeface="Calibri"/>
                <a:ea typeface="Calibri"/>
                <a:cs typeface="Calibri"/>
                <a:sym typeface="Calibri"/>
              </a:rPr>
              <a:t>Crea 3 system prompt diversi: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CCC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ACCCC"/>
                </a:solidFill>
                <a:latin typeface="Calibri"/>
                <a:ea typeface="Calibri"/>
                <a:cs typeface="Calibri"/>
                <a:sym typeface="Calibri"/>
              </a:rPr>
              <a:t>tecnico, bambino, WiData.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CCC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ACCCC"/>
                </a:solidFill>
                <a:latin typeface="Calibri"/>
                <a:ea typeface="Calibri"/>
                <a:cs typeface="Calibri"/>
                <a:sym typeface="Calibri"/>
              </a:rPr>
              <a:t>Stessa domanda, risultati diversi.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9"/>
          <p:cNvSpPr/>
          <p:nvPr/>
        </p:nvSpPr>
        <p:spPr>
          <a:xfrm>
            <a:off x="4754880" y="3017520"/>
            <a:ext cx="4114800" cy="1645920"/>
          </a:xfrm>
          <a:prstGeom prst="rect">
            <a:avLst/>
          </a:prstGeom>
          <a:solidFill>
            <a:srgbClr val="0F2D45"/>
          </a:solidFill>
          <a:ln cap="flat" cmpd="sng" w="12700">
            <a:solidFill>
              <a:srgbClr val="1C5A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9"/>
          <p:cNvSpPr/>
          <p:nvPr/>
        </p:nvSpPr>
        <p:spPr>
          <a:xfrm>
            <a:off x="4846320" y="3154680"/>
            <a:ext cx="457200" cy="457200"/>
          </a:xfrm>
          <a:prstGeom prst="ellipse">
            <a:avLst/>
          </a:prstGeom>
          <a:solidFill>
            <a:srgbClr val="5B2D8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9"/>
          <p:cNvSpPr/>
          <p:nvPr/>
        </p:nvSpPr>
        <p:spPr>
          <a:xfrm>
            <a:off x="4846320" y="315468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 Black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4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9"/>
          <p:cNvSpPr/>
          <p:nvPr/>
        </p:nvSpPr>
        <p:spPr>
          <a:xfrm>
            <a:off x="5413248" y="3127248"/>
            <a:ext cx="3291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Chatbot personalizzato (Deliverable)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9"/>
          <p:cNvSpPr/>
          <p:nvPr/>
        </p:nvSpPr>
        <p:spPr>
          <a:xfrm>
            <a:off x="5413248" y="3429000"/>
            <a:ext cx="32918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2D8E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5B2D8E"/>
                </a:solidFill>
                <a:latin typeface="Calibri"/>
                <a:ea typeface="Calibri"/>
                <a:cs typeface="Calibri"/>
                <a:sym typeface="Calibri"/>
              </a:rPr>
              <a:t>★★★  Deliverable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9"/>
          <p:cNvSpPr/>
          <p:nvPr/>
        </p:nvSpPr>
        <p:spPr>
          <a:xfrm>
            <a:off x="4864608" y="3703320"/>
            <a:ext cx="3931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CCC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ACCCC"/>
                </a:solidFill>
                <a:latin typeface="Calibri"/>
                <a:ea typeface="Calibri"/>
                <a:cs typeface="Calibri"/>
                <a:sym typeface="Calibri"/>
              </a:rPr>
              <a:t>Script con input() che chiede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CCC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ACCCC"/>
                </a:solidFill>
                <a:latin typeface="Calibri"/>
                <a:ea typeface="Calibri"/>
                <a:cs typeface="Calibri"/>
                <a:sym typeface="Calibri"/>
              </a:rPr>
              <a:t>il nome, lo usa nel messaggio,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CCC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AACCCC"/>
                </a:solidFill>
                <a:latin typeface="Calibri"/>
                <a:ea typeface="Calibri"/>
                <a:cs typeface="Calibri"/>
                <a:sym typeface="Calibri"/>
              </a:rPr>
              <a:t>stampa la risposta formattata.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65A82"/>
        </a:soli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0"/>
          <p:cNvSpPr/>
          <p:nvPr/>
        </p:nvSpPr>
        <p:spPr>
          <a:xfrm>
            <a:off x="548640" y="36576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 Black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Wrap-up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0"/>
          <p:cNvSpPr/>
          <p:nvPr/>
        </p:nvSpPr>
        <p:spPr>
          <a:xfrm>
            <a:off x="548640" y="1005840"/>
            <a:ext cx="4023360" cy="3749040"/>
          </a:xfrm>
          <a:prstGeom prst="rect">
            <a:avLst/>
          </a:prstGeom>
          <a:solidFill>
            <a:srgbClr val="0A3A5A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10"/>
          <p:cNvSpPr/>
          <p:nvPr/>
        </p:nvSpPr>
        <p:spPr>
          <a:xfrm>
            <a:off x="640080" y="1097280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✅ Cosa hai imparato oggi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0"/>
          <p:cNvSpPr/>
          <p:nvPr/>
        </p:nvSpPr>
        <p:spPr>
          <a:xfrm>
            <a:off x="640080" y="1508760"/>
            <a:ext cx="3840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✓  </a:t>
            </a: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AI Engineering: usare modelli pronti via API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0"/>
          <p:cNvSpPr/>
          <p:nvPr/>
        </p:nvSpPr>
        <p:spPr>
          <a:xfrm>
            <a:off x="640080" y="1837944"/>
            <a:ext cx="3840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✓  </a:t>
            </a: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Framework Crawl-Walk-Run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0"/>
          <p:cNvSpPr/>
          <p:nvPr/>
        </p:nvSpPr>
        <p:spPr>
          <a:xfrm>
            <a:off x="640080" y="2167128"/>
            <a:ext cx="3840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✓  </a:t>
            </a: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Setup con Colab o ambiente locale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0"/>
          <p:cNvSpPr/>
          <p:nvPr/>
        </p:nvSpPr>
        <p:spPr>
          <a:xfrm>
            <a:off x="640080" y="2496312"/>
            <a:ext cx="3840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✓  </a:t>
            </a: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Struttura della prima chiamata API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0"/>
          <p:cNvSpPr/>
          <p:nvPr/>
        </p:nvSpPr>
        <p:spPr>
          <a:xfrm>
            <a:off x="640080" y="2825496"/>
            <a:ext cx="3840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✓  </a:t>
            </a: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Token: costo e limite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0"/>
          <p:cNvSpPr/>
          <p:nvPr/>
        </p:nvSpPr>
        <p:spPr>
          <a:xfrm>
            <a:off x="640080" y="3154680"/>
            <a:ext cx="3840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✓  </a:t>
            </a: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Temperature: 0=deterministico, 1=creativo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0"/>
          <p:cNvSpPr/>
          <p:nvPr/>
        </p:nvSpPr>
        <p:spPr>
          <a:xfrm>
            <a:off x="640080" y="3483864"/>
            <a:ext cx="3840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2C39A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02C39A"/>
                </a:solidFill>
                <a:latin typeface="Calibri"/>
                <a:ea typeface="Calibri"/>
                <a:cs typeface="Calibri"/>
                <a:sym typeface="Calibri"/>
              </a:rPr>
              <a:t>✓  </a:t>
            </a:r>
            <a:r>
              <a:rPr b="0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System prompt: personalità del chatbot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0"/>
          <p:cNvSpPr/>
          <p:nvPr/>
        </p:nvSpPr>
        <p:spPr>
          <a:xfrm>
            <a:off x="4754880" y="1005840"/>
            <a:ext cx="4023360" cy="1828800"/>
          </a:xfrm>
          <a:prstGeom prst="rect">
            <a:avLst/>
          </a:prstGeom>
          <a:solidFill>
            <a:srgbClr val="E87722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0"/>
          <p:cNvSpPr/>
          <p:nvPr/>
        </p:nvSpPr>
        <p:spPr>
          <a:xfrm>
            <a:off x="4846320" y="1078992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🎯 Deliverable da consegnare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0"/>
          <p:cNvSpPr/>
          <p:nvPr/>
        </p:nvSpPr>
        <p:spPr>
          <a:xfrm>
            <a:off x="4846320" y="1444752"/>
            <a:ext cx="384048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Script Python con input() che: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→ Chiede il nome all'utente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→ Usa il nome nel messaggio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→ Stampa la risposta formattata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→ Pushato su GitHub in lezione1/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0"/>
          <p:cNvSpPr/>
          <p:nvPr/>
        </p:nvSpPr>
        <p:spPr>
          <a:xfrm>
            <a:off x="4754880" y="2971800"/>
            <a:ext cx="4023360" cy="1828800"/>
          </a:xfrm>
          <a:prstGeom prst="rect">
            <a:avLst/>
          </a:prstGeom>
          <a:solidFill>
            <a:srgbClr val="5B2D8E"/>
          </a:solidFill>
          <a:ln>
            <a:noFill/>
          </a:ln>
          <a:effectLst>
            <a:outerShdw blurRad="101600" rotWithShape="0" algn="bl" dir="8100000" dist="38100">
              <a:srgbClr val="000000">
                <a:alpha val="1215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0"/>
          <p:cNvSpPr/>
          <p:nvPr/>
        </p:nvSpPr>
        <p:spPr>
          <a:xfrm>
            <a:off x="4846320" y="3044952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📬 Compito a casa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0"/>
          <p:cNvSpPr/>
          <p:nvPr/>
        </p:nvSpPr>
        <p:spPr>
          <a:xfrm>
            <a:off x="4846320" y="3410712"/>
            <a:ext cx="384048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DD0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DDD0FF"/>
                </a:solidFill>
                <a:latin typeface="Calibri"/>
                <a:ea typeface="Calibri"/>
                <a:cs typeface="Calibri"/>
                <a:sym typeface="Calibri"/>
              </a:rPr>
              <a:t>Completa il deliverable e pusha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DD0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DDD0FF"/>
                </a:solidFill>
                <a:latin typeface="Calibri"/>
                <a:ea typeface="Calibri"/>
                <a:cs typeface="Calibri"/>
                <a:sym typeface="Calibri"/>
              </a:rPr>
              <a:t>su GitHub entro stasera.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DD0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DDD0FF"/>
                </a:solidFill>
                <a:latin typeface="Calibri"/>
                <a:ea typeface="Calibri"/>
                <a:cs typeface="Calibri"/>
                <a:sym typeface="Calibri"/>
              </a:rPr>
              <a:t>📖 Per giovedì 21/05: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DD0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DDD0FF"/>
                </a:solidFill>
                <a:latin typeface="Calibri"/>
                <a:ea typeface="Calibri"/>
                <a:cs typeface="Calibri"/>
                <a:sym typeface="Calibri"/>
              </a:rPr>
              <a:t>leggi Huyen Cap. 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DD0FF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DDD0FF"/>
                </a:solidFill>
                <a:latin typeface="Calibri"/>
                <a:ea typeface="Calibri"/>
                <a:cs typeface="Calibri"/>
                <a:sym typeface="Calibri"/>
              </a:rPr>
              <a:t>(Prompt Engineering)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2026-05-14T07:42:40Z</dcterms:created>
  <dc:creator>Marco Uras</dc:creator>
</cp:coreProperties>
</file>