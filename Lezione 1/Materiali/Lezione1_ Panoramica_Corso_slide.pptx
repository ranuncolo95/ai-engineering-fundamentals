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5143500" cx="9144000"/>
  <p:notesSz cx="5143500" cy="9144000"/>
  <p:embeddedFontLst>
    <p:embeddedFont>
      <p:font typeface="Arial Black"/>
      <p:regular r:id="rId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" roundtripDataSignature="AMtx7mgmpIaCpKl8HULSlLYlb91SJVUO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font" Target="fonts/ArialBlack-regular.fntdata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228600"/>
            <a:ext cx="67374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065A82"/>
                </a:solidFill>
                <a:latin typeface="Arial Black"/>
                <a:ea typeface="Arial Black"/>
                <a:cs typeface="Arial Black"/>
                <a:sym typeface="Arial Black"/>
              </a:rPr>
              <a:t>Il percorso del corso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773825"/>
            <a:ext cx="6132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Un chatbot costruito mattone per mattone — 6 lezioni, 30 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" name="Google Shape;18;p1"/>
          <p:cNvCxnSpPr/>
          <p:nvPr/>
        </p:nvCxnSpPr>
        <p:spPr>
          <a:xfrm>
            <a:off x="658368" y="2964721"/>
            <a:ext cx="7863900" cy="0"/>
          </a:xfrm>
          <a:prstGeom prst="straightConnector1">
            <a:avLst/>
          </a:prstGeom>
          <a:noFill/>
          <a:ln cap="flat" cmpd="sng" w="31750">
            <a:solidFill>
              <a:srgbClr val="D0DCE8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9" name="Google Shape;19;p1"/>
          <p:cNvSpPr/>
          <p:nvPr/>
        </p:nvSpPr>
        <p:spPr>
          <a:xfrm>
            <a:off x="758952" y="2708689"/>
            <a:ext cx="457200" cy="457200"/>
          </a:xfrm>
          <a:prstGeom prst="ellipse">
            <a:avLst/>
          </a:prstGeom>
          <a:solidFill>
            <a:srgbClr val="E87722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758952" y="2708689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1"/>
          <p:cNvCxnSpPr/>
          <p:nvPr/>
        </p:nvCxnSpPr>
        <p:spPr>
          <a:xfrm>
            <a:off x="978408" y="2489233"/>
            <a:ext cx="0" cy="219600"/>
          </a:xfrm>
          <a:prstGeom prst="straightConnector1">
            <a:avLst/>
          </a:prstGeom>
          <a:noFill/>
          <a:ln cap="flat" cmpd="sng" w="1905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1"/>
          <p:cNvSpPr/>
          <p:nvPr/>
        </p:nvSpPr>
        <p:spPr>
          <a:xfrm>
            <a:off x="557784" y="1676895"/>
            <a:ext cx="1261800" cy="804600"/>
          </a:xfrm>
          <a:prstGeom prst="rect">
            <a:avLst/>
          </a:prstGeom>
          <a:solidFill>
            <a:srgbClr val="FFF3E0"/>
          </a:solidFill>
          <a:ln cap="flat" cmpd="sng" w="254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557784" y="1750330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⚙️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886968" y="1768618"/>
            <a:ext cx="896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Setup &amp;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Fondamenta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57784" y="2271255"/>
            <a:ext cx="1170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19/05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30936" y="3211609"/>
            <a:ext cx="1097400" cy="201300"/>
          </a:xfrm>
          <a:prstGeom prst="roundRect">
            <a:avLst>
              <a:gd fmla="val 22727" name="adj"/>
            </a:avLst>
          </a:prstGeom>
          <a:solidFill>
            <a:srgbClr val="1C7293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630936" y="3211609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CRAWL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2148840" y="2708689"/>
            <a:ext cx="457200" cy="457200"/>
          </a:xfrm>
          <a:prstGeom prst="ellipse">
            <a:avLst/>
          </a:prstGeom>
          <a:solidFill>
            <a:srgbClr val="1C7293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2148840" y="2708689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" name="Google Shape;30;p1"/>
          <p:cNvCxnSpPr/>
          <p:nvPr/>
        </p:nvCxnSpPr>
        <p:spPr>
          <a:xfrm flipH="1">
            <a:off x="2364396" y="3165889"/>
            <a:ext cx="3900" cy="300900"/>
          </a:xfrm>
          <a:prstGeom prst="straightConnector1">
            <a:avLst/>
          </a:prstGeom>
          <a:noFill/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1"/>
          <p:cNvSpPr/>
          <p:nvPr/>
        </p:nvSpPr>
        <p:spPr>
          <a:xfrm>
            <a:off x="1947672" y="3463477"/>
            <a:ext cx="1261800" cy="8046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1947672" y="3527077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✍️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2276856" y="3545365"/>
            <a:ext cx="896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Prompt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Engineering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1947672" y="4057837"/>
            <a:ext cx="1170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21/05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2029874" y="2373571"/>
            <a:ext cx="1097400" cy="201300"/>
          </a:xfrm>
          <a:prstGeom prst="roundRect">
            <a:avLst>
              <a:gd fmla="val 22727" name="adj"/>
            </a:avLst>
          </a:prstGeom>
          <a:solidFill>
            <a:srgbClr val="1C7293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2029874" y="2373571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CRAWL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3538728" y="2708689"/>
            <a:ext cx="457200" cy="457200"/>
          </a:xfrm>
          <a:prstGeom prst="ellipse">
            <a:avLst/>
          </a:prstGeom>
          <a:solidFill>
            <a:srgbClr val="1C7293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3538728" y="2708689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" name="Google Shape;39;p1"/>
          <p:cNvCxnSpPr/>
          <p:nvPr/>
        </p:nvCxnSpPr>
        <p:spPr>
          <a:xfrm>
            <a:off x="3758184" y="2489233"/>
            <a:ext cx="0" cy="219600"/>
          </a:xfrm>
          <a:prstGeom prst="straightConnector1">
            <a:avLst/>
          </a:prstGeom>
          <a:noFill/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1"/>
          <p:cNvSpPr/>
          <p:nvPr/>
        </p:nvSpPr>
        <p:spPr>
          <a:xfrm>
            <a:off x="3337560" y="1676895"/>
            <a:ext cx="1261800" cy="8046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3337560" y="1750330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3666751" y="1768625"/>
            <a:ext cx="1097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Conversazione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&amp; Memoria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3337560" y="2271255"/>
            <a:ext cx="1170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26/05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3410712" y="3211609"/>
            <a:ext cx="1097400" cy="201300"/>
          </a:xfrm>
          <a:prstGeom prst="roundRect">
            <a:avLst>
              <a:gd fmla="val 22727" name="adj"/>
            </a:avLst>
          </a:prstGeom>
          <a:solidFill>
            <a:srgbClr val="1C7293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"/>
          <p:cNvSpPr/>
          <p:nvPr/>
        </p:nvSpPr>
        <p:spPr>
          <a:xfrm>
            <a:off x="3410712" y="3211609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CRAWL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4928616" y="2708689"/>
            <a:ext cx="457200" cy="457200"/>
          </a:xfrm>
          <a:prstGeom prst="ellipse">
            <a:avLst/>
          </a:prstGeom>
          <a:solidFill>
            <a:srgbClr val="0A7E6E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"/>
          <p:cNvSpPr/>
          <p:nvPr/>
        </p:nvSpPr>
        <p:spPr>
          <a:xfrm>
            <a:off x="4928616" y="2708689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" name="Google Shape;48;p1"/>
          <p:cNvCxnSpPr/>
          <p:nvPr/>
        </p:nvCxnSpPr>
        <p:spPr>
          <a:xfrm>
            <a:off x="5148072" y="3165889"/>
            <a:ext cx="0" cy="228600"/>
          </a:xfrm>
          <a:prstGeom prst="straightConnector1">
            <a:avLst/>
          </a:prstGeom>
          <a:noFill/>
          <a:ln cap="flat" cmpd="sng" w="19050">
            <a:solidFill>
              <a:srgbClr val="0A7E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1"/>
          <p:cNvSpPr/>
          <p:nvPr/>
        </p:nvSpPr>
        <p:spPr>
          <a:xfrm>
            <a:off x="4727448" y="3394489"/>
            <a:ext cx="1261800" cy="8046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A7E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"/>
          <p:cNvSpPr/>
          <p:nvPr/>
        </p:nvSpPr>
        <p:spPr>
          <a:xfrm>
            <a:off x="4727448" y="3496597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📚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5056632" y="3514885"/>
            <a:ext cx="896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7E6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A7E6E"/>
                </a:solidFill>
                <a:latin typeface="Calibri"/>
                <a:ea typeface="Calibri"/>
                <a:cs typeface="Calibri"/>
                <a:sym typeface="Calibri"/>
              </a:rPr>
              <a:t>RAG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"/>
          <p:cNvSpPr/>
          <p:nvPr/>
        </p:nvSpPr>
        <p:spPr>
          <a:xfrm>
            <a:off x="4727448" y="3988849"/>
            <a:ext cx="1170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28/05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4763888" y="2408646"/>
            <a:ext cx="1097400" cy="201300"/>
          </a:xfrm>
          <a:prstGeom prst="roundRect">
            <a:avLst>
              <a:gd fmla="val 22727" name="adj"/>
            </a:avLst>
          </a:prstGeom>
          <a:solidFill>
            <a:srgbClr val="0A7E6E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"/>
          <p:cNvSpPr/>
          <p:nvPr/>
        </p:nvSpPr>
        <p:spPr>
          <a:xfrm>
            <a:off x="4763888" y="2408646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WALK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6318504" y="2708689"/>
            <a:ext cx="457200" cy="457200"/>
          </a:xfrm>
          <a:prstGeom prst="ellipse">
            <a:avLst/>
          </a:prstGeom>
          <a:solidFill>
            <a:srgbClr val="E87722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"/>
          <p:cNvSpPr/>
          <p:nvPr/>
        </p:nvSpPr>
        <p:spPr>
          <a:xfrm>
            <a:off x="6318504" y="2708689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" name="Google Shape;57;p1"/>
          <p:cNvCxnSpPr/>
          <p:nvPr/>
        </p:nvCxnSpPr>
        <p:spPr>
          <a:xfrm>
            <a:off x="6537960" y="2489233"/>
            <a:ext cx="0" cy="219600"/>
          </a:xfrm>
          <a:prstGeom prst="straightConnector1">
            <a:avLst/>
          </a:prstGeom>
          <a:noFill/>
          <a:ln cap="flat" cmpd="sng" w="1905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"/>
          <p:cNvSpPr/>
          <p:nvPr/>
        </p:nvSpPr>
        <p:spPr>
          <a:xfrm>
            <a:off x="6117336" y="1676895"/>
            <a:ext cx="1261800" cy="8046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"/>
          <p:cNvSpPr/>
          <p:nvPr/>
        </p:nvSpPr>
        <p:spPr>
          <a:xfrm>
            <a:off x="6117336" y="1832318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🔧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"/>
          <p:cNvSpPr/>
          <p:nvPr/>
        </p:nvSpPr>
        <p:spPr>
          <a:xfrm>
            <a:off x="6446520" y="1850606"/>
            <a:ext cx="896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Tools &amp;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MCP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"/>
          <p:cNvSpPr/>
          <p:nvPr/>
        </p:nvSpPr>
        <p:spPr>
          <a:xfrm>
            <a:off x="6117336" y="2271255"/>
            <a:ext cx="1170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04/06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"/>
          <p:cNvSpPr/>
          <p:nvPr/>
        </p:nvSpPr>
        <p:spPr>
          <a:xfrm>
            <a:off x="6190488" y="3211609"/>
            <a:ext cx="1097400" cy="201300"/>
          </a:xfrm>
          <a:prstGeom prst="roundRect">
            <a:avLst>
              <a:gd fmla="val 22727" name="adj"/>
            </a:avLst>
          </a:prstGeom>
          <a:solidFill>
            <a:srgbClr val="0A7E6E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"/>
          <p:cNvSpPr/>
          <p:nvPr/>
        </p:nvSpPr>
        <p:spPr>
          <a:xfrm>
            <a:off x="6190488" y="3211609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WALK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"/>
          <p:cNvSpPr/>
          <p:nvPr/>
        </p:nvSpPr>
        <p:spPr>
          <a:xfrm>
            <a:off x="7708392" y="2708689"/>
            <a:ext cx="457200" cy="457200"/>
          </a:xfrm>
          <a:prstGeom prst="ellipse">
            <a:avLst/>
          </a:prstGeom>
          <a:solidFill>
            <a:srgbClr val="5B2D8E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"/>
          <p:cNvSpPr/>
          <p:nvPr/>
        </p:nvSpPr>
        <p:spPr>
          <a:xfrm>
            <a:off x="7708392" y="2708689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1"/>
          <p:cNvCxnSpPr/>
          <p:nvPr/>
        </p:nvCxnSpPr>
        <p:spPr>
          <a:xfrm>
            <a:off x="7927848" y="3165889"/>
            <a:ext cx="0" cy="228600"/>
          </a:xfrm>
          <a:prstGeom prst="straightConnector1">
            <a:avLst/>
          </a:prstGeom>
          <a:noFill/>
          <a:ln cap="flat" cmpd="sng" w="19050">
            <a:solidFill>
              <a:srgbClr val="5B2D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1"/>
          <p:cNvSpPr/>
          <p:nvPr/>
        </p:nvSpPr>
        <p:spPr>
          <a:xfrm>
            <a:off x="7507224" y="3394489"/>
            <a:ext cx="1261800" cy="8046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5B2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"/>
          <p:cNvSpPr/>
          <p:nvPr/>
        </p:nvSpPr>
        <p:spPr>
          <a:xfrm>
            <a:off x="7507224" y="3458497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🚀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"/>
          <p:cNvSpPr/>
          <p:nvPr/>
        </p:nvSpPr>
        <p:spPr>
          <a:xfrm>
            <a:off x="7836408" y="3476785"/>
            <a:ext cx="896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D8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B2D8E"/>
                </a:solidFill>
                <a:latin typeface="Calibri"/>
                <a:ea typeface="Calibri"/>
                <a:cs typeface="Calibri"/>
                <a:sym typeface="Calibri"/>
              </a:rPr>
              <a:t>UI Web &amp;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D8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B2D8E"/>
                </a:solidFill>
                <a:latin typeface="Calibri"/>
                <a:ea typeface="Calibri"/>
                <a:cs typeface="Calibri"/>
                <a:sym typeface="Calibri"/>
              </a:rPr>
              <a:t>Deploy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"/>
          <p:cNvSpPr/>
          <p:nvPr/>
        </p:nvSpPr>
        <p:spPr>
          <a:xfrm>
            <a:off x="7507224" y="3988849"/>
            <a:ext cx="1170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09/06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"/>
          <p:cNvSpPr/>
          <p:nvPr/>
        </p:nvSpPr>
        <p:spPr>
          <a:xfrm>
            <a:off x="7589426" y="2410421"/>
            <a:ext cx="1097400" cy="201300"/>
          </a:xfrm>
          <a:prstGeom prst="roundRect">
            <a:avLst>
              <a:gd fmla="val 22727" name="adj"/>
            </a:avLst>
          </a:prstGeom>
          <a:solidFill>
            <a:srgbClr val="5B2D8E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"/>
          <p:cNvSpPr/>
          <p:nvPr/>
        </p:nvSpPr>
        <p:spPr>
          <a:xfrm>
            <a:off x="7589426" y="2410421"/>
            <a:ext cx="109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 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"/>
          <p:cNvSpPr/>
          <p:nvPr/>
        </p:nvSpPr>
        <p:spPr>
          <a:xfrm>
            <a:off x="457200" y="4617725"/>
            <a:ext cx="8522100" cy="3840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"/>
          <p:cNvSpPr/>
          <p:nvPr/>
        </p:nvSpPr>
        <p:spPr>
          <a:xfrm>
            <a:off x="868680" y="4663440"/>
            <a:ext cx="9144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"/>
          <p:cNvSpPr/>
          <p:nvPr/>
        </p:nvSpPr>
        <p:spPr>
          <a:xfrm>
            <a:off x="1005840" y="466344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🐛 CRAWL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"/>
          <p:cNvSpPr/>
          <p:nvPr/>
        </p:nvSpPr>
        <p:spPr>
          <a:xfrm>
            <a:off x="2029968" y="46634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L'AI assiste, l'umano decide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"/>
          <p:cNvSpPr/>
          <p:nvPr/>
        </p:nvSpPr>
        <p:spPr>
          <a:xfrm>
            <a:off x="3611880" y="4663440"/>
            <a:ext cx="91440" cy="274320"/>
          </a:xfrm>
          <a:prstGeom prst="rect">
            <a:avLst/>
          </a:prstGeom>
          <a:solidFill>
            <a:srgbClr val="0A7E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"/>
          <p:cNvSpPr/>
          <p:nvPr/>
        </p:nvSpPr>
        <p:spPr>
          <a:xfrm>
            <a:off x="3749040" y="466344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7E6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A7E6E"/>
                </a:solidFill>
                <a:latin typeface="Calibri"/>
                <a:ea typeface="Calibri"/>
                <a:cs typeface="Calibri"/>
                <a:sym typeface="Calibri"/>
              </a:rPr>
              <a:t>🚶 WALK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"/>
          <p:cNvSpPr/>
          <p:nvPr/>
        </p:nvSpPr>
        <p:spPr>
          <a:xfrm>
            <a:off x="4773168" y="46634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L'AI esegue con supervisione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"/>
          <p:cNvSpPr/>
          <p:nvPr/>
        </p:nvSpPr>
        <p:spPr>
          <a:xfrm>
            <a:off x="6355080" y="4663440"/>
            <a:ext cx="91440" cy="27432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"/>
          <p:cNvSpPr/>
          <p:nvPr/>
        </p:nvSpPr>
        <p:spPr>
          <a:xfrm>
            <a:off x="6492240" y="466344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D8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2D8E"/>
                </a:solidFill>
                <a:latin typeface="Calibri"/>
                <a:ea typeface="Calibri"/>
                <a:cs typeface="Calibri"/>
                <a:sym typeface="Calibri"/>
              </a:rPr>
              <a:t>🏃 RUN 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"/>
          <p:cNvSpPr/>
          <p:nvPr/>
        </p:nvSpPr>
        <p:spPr>
          <a:xfrm>
            <a:off x="7516368" y="46634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L'AI agisce in autonomia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"/>
          <p:cNvSpPr/>
          <p:nvPr/>
        </p:nvSpPr>
        <p:spPr>
          <a:xfrm>
            <a:off x="539458" y="1395427"/>
            <a:ext cx="1298400" cy="1281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"/>
          <p:cNvSpPr/>
          <p:nvPr/>
        </p:nvSpPr>
        <p:spPr>
          <a:xfrm>
            <a:off x="539458" y="1395427"/>
            <a:ext cx="12984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← SEI QUI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531600" y="141675"/>
            <a:ext cx="1463100" cy="1403700"/>
          </a:xfrm>
          <a:prstGeom prst="rect">
            <a:avLst/>
          </a:prstGeom>
          <a:solidFill>
            <a:srgbClr val="5B2D8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7577350" y="233125"/>
            <a:ext cx="1353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🎯 Prodotto finale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7577325" y="507425"/>
            <a:ext cx="1298400" cy="10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0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DD0FF"/>
                </a:solidFill>
                <a:latin typeface="Calibri"/>
                <a:ea typeface="Calibri"/>
                <a:cs typeface="Calibri"/>
                <a:sym typeface="Calibri"/>
              </a:rPr>
              <a:t>Un chatbot con: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0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DD0FF"/>
                </a:solidFill>
                <a:latin typeface="Calibri"/>
                <a:ea typeface="Calibri"/>
                <a:cs typeface="Calibri"/>
                <a:sym typeface="Calibri"/>
              </a:rPr>
              <a:t>• RAG su documenti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0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DD0FF"/>
                </a:solidFill>
                <a:latin typeface="Calibri"/>
                <a:ea typeface="Calibri"/>
                <a:cs typeface="Calibri"/>
                <a:sym typeface="Calibri"/>
              </a:rPr>
              <a:t>• Tool use &amp; MCP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0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DD0FF"/>
                </a:solidFill>
                <a:latin typeface="Calibri"/>
                <a:ea typeface="Calibri"/>
                <a:cs typeface="Calibri"/>
                <a:sym typeface="Calibri"/>
              </a:rPr>
              <a:t>• UI web Streamlit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0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DD0FF"/>
                </a:solidFill>
                <a:latin typeface="Calibri"/>
                <a:ea typeface="Calibri"/>
                <a:cs typeface="Calibri"/>
                <a:sym typeface="Calibri"/>
              </a:rPr>
              <a:t>• Deploy online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2026-05-06T08:02:26Z</dcterms:created>
  <dc:creator>PptxGenJS</dc:creator>
</cp:coreProperties>
</file>