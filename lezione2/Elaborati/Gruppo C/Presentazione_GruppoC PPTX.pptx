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144000"/>
  <p:notesSz cx="6858000" cy="9144000"/>
  <p:embeddedFontLst>
    <p:embeddedFont>
      <p:font typeface="Roboto Mon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hxtJ9SD8H6Cubk0LdBo8SxXwus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Mon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italic.fntdata"/><Relationship Id="rId6" Type="http://schemas.openxmlformats.org/officeDocument/2006/relationships/slide" Target="slides/slide1.xml"/><Relationship Id="rId18" Type="http://schemas.openxmlformats.org/officeDocument/2006/relationships/font" Target="fonts/RobotoMon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3c2b95300_9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3c2b95300_9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3c2b95300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e3c2b95300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3c2b95300_1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e3c2b95300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3c2b95300_1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3c2b95300_1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3c2b95300_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e3c2b95300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3c2b95300_7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e3c2b95300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434400"/>
            <a:ext cx="7772400" cy="190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Template Riutilizzabili &amp; Casi d'uso Reali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297650" y="2832550"/>
            <a:ext cx="6400800" cy="3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760"/>
              <a:buNone/>
            </a:pPr>
            <a:r>
              <a:rPr lang="en-US" sz="2060">
                <a:solidFill>
                  <a:srgbClr val="888888"/>
                </a:solidFill>
              </a:rPr>
              <a:t>Gruppo C</a:t>
            </a:r>
            <a:endParaRPr sz="2060">
              <a:solidFill>
                <a:srgbClr val="888888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760"/>
              <a:buNone/>
            </a:pPr>
            <a:r>
              <a:rPr lang="en-US" sz="2060"/>
              <a:t>Alfonso, Giulio, Guido</a:t>
            </a:r>
            <a:endParaRPr sz="206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760"/>
              <a:buNone/>
            </a:pPr>
            <a:r>
              <a:t/>
            </a:r>
            <a:endParaRPr sz="2060"/>
          </a:p>
          <a:p>
            <a:pPr indent="0" lvl="0" marL="0" rtl="0" algn="ctr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1760"/>
              <a:buNone/>
            </a:pPr>
            <a:r>
              <a:rPr lang="en-US" sz="2060">
                <a:solidFill>
                  <a:srgbClr val="888888"/>
                </a:solidFill>
              </a:rPr>
              <a:t>Presenta: [</a:t>
            </a:r>
            <a:r>
              <a:rPr lang="en-US" sz="2060"/>
              <a:t>Giulio Pazzola, Guido</a:t>
            </a:r>
            <a:r>
              <a:rPr lang="en-US" sz="2060">
                <a:solidFill>
                  <a:srgbClr val="888888"/>
                </a:solidFill>
              </a:rPr>
              <a:t>]</a:t>
            </a:r>
            <a:endParaRPr sz="2060"/>
          </a:p>
          <a:p>
            <a:pPr indent="0" lvl="0" marL="0" rtl="0" algn="ctr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1760"/>
              <a:buNone/>
            </a:pPr>
            <a:r>
              <a:rPr lang="en-US" sz="2060"/>
              <a:t>Codice: Alfonso, Giulio, Guido</a:t>
            </a:r>
            <a:endParaRPr sz="2060"/>
          </a:p>
          <a:p>
            <a:pPr indent="0" lvl="0" marL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1760"/>
              <a:buNone/>
            </a:pPr>
            <a:r>
              <a:t/>
            </a:r>
            <a:endParaRPr sz="2060"/>
          </a:p>
          <a:p>
            <a:pPr indent="0" lvl="0" marL="0" rtl="0" algn="ctr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1760"/>
              <a:buNone/>
            </a:pPr>
            <a:r>
              <a:rPr lang="en-US" sz="2860">
                <a:solidFill>
                  <a:schemeClr val="dk1"/>
                </a:solidFill>
              </a:rPr>
              <a:t>Il problema: Ogni volta che vuoi fare la stessa cosa devi riscrivere tutto il prompt? No.</a:t>
            </a:r>
            <a:endParaRPr sz="286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36195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i="1"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Cos'è un Prompt Template?</a:t>
            </a:r>
            <a:endParaRPr i="1"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 sz="3200">
                <a:solidFill>
                  <a:schemeClr val="dk1"/>
                </a:solidFill>
              </a:rPr>
              <a:t>Definizione: È un prompt con {variabili} sostituibili a runtime.</a:t>
            </a:r>
            <a:endParaRPr b="1"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b="1" lang="en-US" sz="2800">
                <a:solidFill>
                  <a:schemeClr val="dk1"/>
                </a:solidFill>
              </a:rPr>
              <a:t>Differenza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Prompt fisso: 'Analizza i dati di oggi.'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Template parametrico: 'Analizza i dati del giorno {data} per l'impianto {nome_impianto}.'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b="1" lang="en-US" sz="2800">
                <a:solidFill>
                  <a:schemeClr val="dk1"/>
                </a:solidFill>
              </a:rPr>
              <a:t>Come funziona in Python:</a:t>
            </a:r>
            <a:endParaRPr b="1"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template = 'Ciao {nome}'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risultato = template.format(nome='Marco')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4400">
                <a:solidFill>
                  <a:schemeClr val="dk1"/>
                </a:solidFill>
              </a:rPr>
              <a:t>Struttura di un Template Professionale</a:t>
            </a:r>
            <a:endParaRPr b="1"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2766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5 campi fondamentali di un template:</a:t>
            </a:r>
            <a:endParaRPr/>
          </a:p>
          <a:p>
            <a:pPr indent="-272415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1" lang="en-US" sz="2800">
                <a:solidFill>
                  <a:schemeClr val="dk1"/>
                </a:solidFill>
              </a:rPr>
              <a:t>Nome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Identificativo unico (es. 'analista_produzione')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7178" lvl="1" marL="74295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ct val="64286"/>
              <a:buChar char="–"/>
            </a:pPr>
            <a:r>
              <a:rPr lang="en-US"/>
              <a:t>2. </a:t>
            </a:r>
            <a:r>
              <a:rPr b="1" lang="en-US"/>
              <a:t>Descrizione</a:t>
            </a:r>
            <a:r>
              <a:rPr lang="en-US"/>
              <a:t>: Descrive il compito da eseguire</a:t>
            </a:r>
            <a:endParaRPr/>
          </a:p>
          <a:p>
            <a:pPr indent="-272415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3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1" lang="en-US" sz="2800">
                <a:solidFill>
                  <a:schemeClr val="dk1"/>
                </a:solidFill>
              </a:rPr>
              <a:t>System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Ruolo e contesto (es. 'Sei un data scientist esperto in energia')</a:t>
            </a:r>
            <a:endParaRPr/>
          </a:p>
          <a:p>
            <a:pPr indent="-272415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4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1" lang="en-US" sz="2800">
                <a:solidFill>
                  <a:schemeClr val="dk1"/>
                </a:solidFill>
              </a:rPr>
              <a:t>Template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Il testo del prompt con le {variabili}</a:t>
            </a:r>
            <a:endParaRPr/>
          </a:p>
          <a:p>
            <a:pPr indent="-272415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5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1" lang="en-US" sz="2800">
                <a:solidFill>
                  <a:schemeClr val="dk1"/>
                </a:solidFill>
              </a:rPr>
              <a:t>Esempio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Come compilarlo correttamente</a:t>
            </a:r>
            <a:endParaRPr/>
          </a:p>
          <a:p>
            <a:pPr indent="-272415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6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1" lang="en-US" sz="2800">
                <a:solidFill>
                  <a:schemeClr val="dk1"/>
                </a:solidFill>
              </a:rPr>
              <a:t>Parametri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temperature, max_tokens consigliati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3200">
                <a:solidFill>
                  <a:schemeClr val="dk1"/>
                </a:solidFill>
              </a:rPr>
              <a:t>Perché documentare i parametri?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984">
                <a:solidFill>
                  <a:schemeClr val="dk1"/>
                </a:solidFill>
              </a:rPr>
              <a:t>Garantisce risultati costanti e riproducibilità.</a:t>
            </a:r>
            <a:endParaRPr sz="2984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Casi d'uso Reali &amp; WiData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10000"/>
          </a:bodyPr>
          <a:lstStyle/>
          <a:p>
            <a:pPr indent="-29718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lang="en-US"/>
              <a:t>Riassunto documenti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(WiData/Smart Cities):</a:t>
            </a:r>
            <a:endParaRPr/>
          </a:p>
          <a:p>
            <a:pPr indent="-245745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'</a:t>
            </a:r>
            <a:r>
              <a:rPr lang="en-US"/>
              <a:t>Riassume un testo in n punti chiave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'</a:t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Report </a:t>
            </a:r>
            <a:r>
              <a:rPr lang="en-US"/>
              <a:t>lettura sensori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45745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'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 un report per l'impianto {nome} </a:t>
            </a:r>
            <a:r>
              <a:rPr lang="en-US"/>
              <a:t>riguardanti i {sensori} per lo {scopo} del {cliente_id}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'</a:t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Estrattore di Dati da Documenti Tecnici:</a:t>
            </a:r>
            <a:endParaRPr/>
          </a:p>
          <a:p>
            <a:pPr indent="-245745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'Estrai dal testo {testo} le seguenti informazioni: {campi_richiesti}. Formato JSON.'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6080" lvl="0" marL="342900" rtl="0" algn="l">
              <a:spcBef>
                <a:spcPts val="64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4</a:t>
            </a:r>
            <a:r>
              <a:rPr lang="en-US"/>
              <a:t>. Email risposta supporto clienti:</a:t>
            </a:r>
            <a:endParaRPr/>
          </a:p>
          <a:p>
            <a:pPr indent="-309245" lvl="1" marL="742950" rtl="0" algn="l">
              <a:spcBef>
                <a:spcPts val="560"/>
              </a:spcBef>
              <a:spcAft>
                <a:spcPts val="0"/>
              </a:spcAft>
              <a:buSzPct val="100000"/>
              <a:buChar char="–"/>
            </a:pPr>
            <a:r>
              <a:rPr lang="en-US"/>
              <a:t>'Risponde alle richieste supporto {email} {clienti_id}, riguardante un {problema} selezionato nel form di supporto.'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457200" y="274643"/>
            <a:ext cx="7343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57143"/>
              <a:buFont typeface="Calibri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Come organizzare la Prompt Library</a:t>
            </a:r>
            <a:endParaRPr sz="2800"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457200" y="721052"/>
            <a:ext cx="8229600" cy="54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Struttura del file Python: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62489"/>
            <a:ext cx="9144002" cy="3333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3c2b95300_9_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e3c2b95300_9_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g3e3c2b95300_9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9825" y="332750"/>
            <a:ext cx="9014375" cy="4857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g3e3c2b95300_9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1788" y="5489450"/>
            <a:ext cx="6677025" cy="97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3c2b95300_0_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Funzione che esegue il template</a:t>
            </a:r>
            <a:endParaRPr/>
          </a:p>
        </p:txBody>
      </p:sp>
      <p:sp>
        <p:nvSpPr>
          <p:cNvPr id="124" name="Google Shape;124;g3e3c2b95300_0_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69A5D7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lang="en-US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DCDCAA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usa_template</a:t>
            </a:r>
            <a:r>
              <a:rPr lang="en-US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9CDCFE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nome_template</a:t>
            </a:r>
            <a:r>
              <a:rPr lang="en-US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 **</a:t>
            </a:r>
            <a:r>
              <a:rPr lang="en-US" sz="1050">
                <a:solidFill>
                  <a:srgbClr val="9CDCFE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kwargs</a:t>
            </a:r>
            <a:r>
              <a:rPr lang="en-US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US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"""Usa un template dalla library con le variabili fornite."""</a:t>
            </a:r>
            <a:endParaRPr sz="1050">
              <a:solidFill>
                <a:srgbClr val="CE9178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  t = PROMPT_LIBRARY</a:t>
            </a:r>
            <a:r>
              <a:rPr lang="en-US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nome_template</a:t>
            </a:r>
            <a:r>
              <a:rPr lang="en-US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050">
                <a:solidFill>
                  <a:srgbClr val="DCDCAA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US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4EC9B0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-US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-US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  messaggio = t</a:t>
            </a:r>
            <a:r>
              <a:rPr lang="en-US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"template"</a:t>
            </a:r>
            <a:r>
              <a:rPr lang="en-US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-US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-US" sz="1050">
                <a:solidFill>
                  <a:srgbClr val="DCDCAA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format</a:t>
            </a:r>
            <a:r>
              <a:rPr lang="en-US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**kwargs</a:t>
            </a:r>
            <a:r>
              <a:rPr lang="en-US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  params = t</a:t>
            </a:r>
            <a:r>
              <a:rPr lang="en-US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"parametri"</a:t>
            </a:r>
            <a:r>
              <a:rPr lang="en-US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050">
                <a:solidFill>
                  <a:srgbClr val="C99CC6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-US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chiedi_claude</a:t>
            </a:r>
            <a:r>
              <a:rPr lang="en-US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      messaggio</a:t>
            </a:r>
            <a:r>
              <a:rPr lang="en-US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      system=t</a:t>
            </a:r>
            <a:r>
              <a:rPr lang="en-US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"system"</a:t>
            </a:r>
            <a:r>
              <a:rPr lang="en-US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      temperature=params.get</a:t>
            </a:r>
            <a:r>
              <a:rPr lang="en-US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"temperature"</a:t>
            </a:r>
            <a:r>
              <a:rPr lang="en-US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B5CEA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0.7</a:t>
            </a:r>
            <a:r>
              <a:rPr lang="en-US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      max_tokens=params.get</a:t>
            </a:r>
            <a:r>
              <a:rPr lang="en-US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"max_tokens"</a:t>
            </a:r>
            <a:r>
              <a:rPr lang="en-US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050">
                <a:solidFill>
                  <a:srgbClr val="B5CEA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500</a:t>
            </a:r>
            <a:r>
              <a:rPr lang="en-US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0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3c2b95300_1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Inferenza</a:t>
            </a:r>
            <a:endParaRPr/>
          </a:p>
        </p:txBody>
      </p:sp>
      <p:sp>
        <p:nvSpPr>
          <p:cNvPr id="130" name="Google Shape;130;g3e3c2b95300_10_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g3e3c2b95300_1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00" y="1417650"/>
            <a:ext cx="8882126" cy="391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3c2b95300_10_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Risposte stress test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e3c2b95300_10_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g3e3c2b95300_1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51117"/>
            <a:ext cx="9144001" cy="40599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3c2b95300_3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Stress Test</a:t>
            </a:r>
            <a:endParaRPr b="1"/>
          </a:p>
        </p:txBody>
      </p:sp>
      <p:sp>
        <p:nvSpPr>
          <p:cNvPr id="144" name="Google Shape;144;g3e3c2b95300_3_0"/>
          <p:cNvSpPr txBox="1"/>
          <p:nvPr>
            <p:ph idx="1" type="body"/>
          </p:nvPr>
        </p:nvSpPr>
        <p:spPr>
          <a:xfrm>
            <a:off x="457200" y="1609600"/>
            <a:ext cx="8229600" cy="806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i="1" lang="en-US"/>
              <a:t>Input inaspettati</a:t>
            </a:r>
            <a:endParaRPr i="1"/>
          </a:p>
        </p:txBody>
      </p:sp>
      <p:sp>
        <p:nvSpPr>
          <p:cNvPr id="145" name="Google Shape;145;g3e3c2b95300_3_0"/>
          <p:cNvSpPr txBox="1"/>
          <p:nvPr/>
        </p:nvSpPr>
        <p:spPr>
          <a:xfrm>
            <a:off x="214375" y="2608250"/>
            <a:ext cx="8953200" cy="3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Quando un LLM riceve input che non erano stati previsti nel design del template, si possono verificare comportamenti molto diversi a seconda del tipo di attacco o anomalia.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Prompt Injection</a:t>
            </a:r>
            <a:r>
              <a:rPr lang="en-US" sz="1100">
                <a:solidFill>
                  <a:schemeClr val="dk1"/>
                </a:solidFill>
              </a:rPr>
              <a:t> è la vulnerabilità più seria: l'utente inserisce istruzioni nel campo di testo che cercano di sovrascrivere il system prompt. Frasi come "ignora le istruzioni precedenti" o tag XML falsi tipo 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&lt;/input&gt;&lt;system&gt;nuovo ruolo&lt;/system&gt;</a:t>
            </a:r>
            <a:r>
              <a:rPr lang="en-US" sz="1100">
                <a:solidFill>
                  <a:schemeClr val="dk1"/>
                </a:solidFill>
              </a:rPr>
              <a:t> tentano di convincere il modello che le regole siano cambiate. Un modello ben difeso le ignora; uno mal configurato può seguirle.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Input fuori ambito</a:t>
            </a:r>
            <a:r>
              <a:rPr lang="en-US" sz="1100">
                <a:solidFill>
                  <a:schemeClr val="dk1"/>
                </a:solidFill>
              </a:rPr>
              <a:t> sono meno pericolosi ma ugualmente problematici: l'utente chiede qualcosa di completamente irrilevante (una ricetta, supporto per un prodotto concorrente, rimborsi). Qui il rischio non è sicurezza ma qualità: il modello potrebbe rispondere comunque, uscendo dal ruolo previsto e generando risposte che non dovrebbe dare.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La conclusione pratica è che nessun template è sicuro senza un defensive prompt esplicito. Le tre difese fondamentali sono: delimitare sempre l'input dell'utente con tag (</a:t>
            </a:r>
            <a:r>
              <a:rPr lang="en-U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&lt;input&gt;...&lt;/input&gt;</a:t>
            </a:r>
            <a:r>
              <a:rPr lang="en-US" sz="1100">
                <a:solidFill>
                  <a:schemeClr val="dk1"/>
                </a:solidFill>
              </a:rPr>
              <a:t>), dichiarare esplicitamente cosa il modello non deve fare, e testare attivamente con input malevoli prima di mettere in produzione.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3c2b95300_7_0"/>
          <p:cNvSpPr txBox="1"/>
          <p:nvPr>
            <p:ph type="title"/>
          </p:nvPr>
        </p:nvSpPr>
        <p:spPr>
          <a:xfrm>
            <a:off x="457200" y="657374"/>
            <a:ext cx="8229600" cy="621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Uso prompt library per progetto finale</a:t>
            </a:r>
            <a:endParaRPr b="1"/>
          </a:p>
        </p:txBody>
      </p:sp>
      <p:sp>
        <p:nvSpPr>
          <p:cNvPr id="151" name="Google Shape;151;g3e3c2b95300_7_0"/>
          <p:cNvSpPr txBox="1"/>
          <p:nvPr/>
        </p:nvSpPr>
        <p:spPr>
          <a:xfrm>
            <a:off x="23925" y="1574175"/>
            <a:ext cx="9144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Il chatbot risponde a clienti e tecnici che interagiscono con i sensori di monitoraggio installati da WiData: qualità dell'aria, temperatura, umidità, dati ambientali in real-time.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e3c2b95300_7_0"/>
          <p:cNvSpPr txBox="1"/>
          <p:nvPr/>
        </p:nvSpPr>
        <p:spPr>
          <a:xfrm>
            <a:off x="90075" y="2805675"/>
            <a:ext cx="9011700" cy="30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I template che utilizzeremo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chatbot_widata</a:t>
            </a:r>
            <a:r>
              <a:rPr lang="en-US">
                <a:solidFill>
                  <a:schemeClr val="dk1"/>
                </a:solidFill>
              </a:rPr>
              <a:t> — cuore del sistema, gestisce tutte le domande in ingresso con defensive prompt e tag </a:t>
            </a:r>
            <a:r>
              <a:rPr lang="en-US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&lt;input&gt;</a:t>
            </a:r>
            <a:r>
              <a:rPr lang="en-US">
                <a:solidFill>
                  <a:schemeClr val="dk1"/>
                </a:solidFill>
              </a:rPr>
              <a:t> per isolare l'input utente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supporto_clienti</a:t>
            </a:r>
            <a:r>
              <a:rPr lang="en-US">
                <a:solidFill>
                  <a:schemeClr val="dk1"/>
                </a:solidFill>
              </a:rPr>
              <a:t> — attivato quando il cliente descrive un problema tecnico su un sensore specifico, genera una risposta strutturata con soluzione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riassunto</a:t>
            </a:r>
            <a:r>
              <a:rPr lang="en-US">
                <a:solidFill>
                  <a:schemeClr val="dk1"/>
                </a:solidFill>
              </a:rPr>
              <a:t> — usato internamente per condensare lo storico di una conversazione lunga prima di passarla al modello, riducendo i token consumati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e3c2b95300_7_0"/>
          <p:cNvSpPr txBox="1"/>
          <p:nvPr/>
        </p:nvSpPr>
        <p:spPr>
          <a:xfrm>
            <a:off x="183525" y="5416450"/>
            <a:ext cx="8824800" cy="12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Flusso nel progetto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>
                <a:solidFill>
                  <a:schemeClr val="dk1"/>
                </a:solidFill>
              </a:rPr>
              <a:t>L'utente scrive → il messaggio entra nel template </a:t>
            </a:r>
            <a:r>
              <a:rPr lang="en-US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chatbot_widata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>
                <a:solidFill>
                  <a:schemeClr val="dk1"/>
                </a:solidFill>
              </a:rPr>
              <a:t>Se emerge un problema tecnico → si passa a </a:t>
            </a:r>
            <a:r>
              <a:rPr lang="en-US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supporto_clienti</a:t>
            </a:r>
            <a:r>
              <a:rPr lang="en-US">
                <a:solidFill>
                  <a:schemeClr val="dk1"/>
                </a:solidFill>
              </a:rPr>
              <a:t> con i dati del sensore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>
                <a:solidFill>
                  <a:schemeClr val="dk1"/>
                </a:solidFill>
              </a:rPr>
              <a:t>Se la conversazione supera N messaggi → </a:t>
            </a:r>
            <a:r>
              <a:rPr lang="en-US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riassunto</a:t>
            </a:r>
            <a:r>
              <a:rPr lang="en-US">
                <a:solidFill>
                  <a:schemeClr val="dk1"/>
                </a:solidFill>
              </a:rPr>
              <a:t> comprime lo storico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