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wqpvrd+0+quC6iI5fTf5QaLrl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653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2743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25880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UI Web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Valutazione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&amp; Deploy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5204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 Engineering — Lezione 6 di 6  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9319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📅  Martedì 09/06/2026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⏱  5 ore  •  Monte ore: 30/30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📖  Huyen Cap. 3+4 (Evaluation) + Cap. 10 (Architecture)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66534"/>
                </a:solidFill>
                <a:latin typeface="Arial Black"/>
                <a:ea typeface="Arial Black"/>
                <a:cs typeface="Arial Black"/>
                <a:sym typeface="Arial Black"/>
              </a:rPr>
              <a:t>L'ultima lezione 🏁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914400"/>
            <a:ext cx="64008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28600" y="1005840"/>
            <a:ext cx="201168" cy="201168"/>
          </a:xfrm>
          <a:prstGeom prst="ellipse">
            <a:avLst/>
          </a:prstGeom>
          <a:solidFill>
            <a:srgbClr val="6B8C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960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63040" y="9418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Recap L5 + presentazioni gruppi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15 min recap, poi 3 × 10 min presentazioni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1691640"/>
            <a:ext cx="201168" cy="201168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1645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46304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UI Web con Streamlit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18745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Session state, upload, layout, chat UI — Huyen Cap.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8600" y="237744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23317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10:30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3040" y="2313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Valutazione del chatbot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63040" y="25603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Metriche, AI-as-a-Judge, guardrails — Huyen Cap. 3+4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28600" y="30632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3017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63040" y="29992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Deploy su Streamlit Cloud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63040" y="32461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Secrets, variabili ambiente, URL pubblico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28600" y="3749040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37033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63040" y="36850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Progetto finale +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63040" y="39319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Deploy, portfolio GitHub, presentazioni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914400"/>
            <a:ext cx="2468880" cy="34747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🎯 Deliverable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92240" y="141732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Chatbot WiData completo deployato su Streamlit Cloud — URL pubblico + GitHub portfolio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92240" y="32004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📖 Huyen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Cap. 3+4+10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653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Streamlit — dal Python al Web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Interfaccia web professionale in poche righe — Huyen Cap.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1143000"/>
            <a:ext cx="5029200" cy="3749040"/>
          </a:xfrm>
          <a:prstGeom prst="rect">
            <a:avLst/>
          </a:prstGeom>
          <a:solidFill>
            <a:srgbClr val="0A1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02920" y="1234440"/>
            <a:ext cx="48463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streamlit </a:t>
            </a: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st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st.title(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"🤖 Chatbot WiData"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Session state = memoria tra rerun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"messages" </a:t>
            </a: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not in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st.session_state: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st.session_state.messages = []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Mostra la chat history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msg </a:t>
            </a: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st.session_state.messages: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with st.chat_message(msg[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st.markdown(msg[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Input utente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prompt := st.chat_input(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"Scrivi qui..."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# Processa e mostra risposta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risposta = chat_rag(prompt)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st.session_state.messages.append({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:"assistant",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:risposta})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5440680" y="19202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4" name="Google Shape;64;p3"/>
          <p:cNvSpPr/>
          <p:nvPr/>
        </p:nvSpPr>
        <p:spPr>
          <a:xfrm>
            <a:off x="5806440" y="1536192"/>
            <a:ext cx="3017520" cy="914400"/>
          </a:xfrm>
          <a:prstGeom prst="rect">
            <a:avLst/>
          </a:prstGeom>
          <a:solidFill>
            <a:srgbClr val="0A2A0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897880" y="16002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st.session_state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897880" y="1901952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memoria di Streamlit tra un rerun e l'altro. Sostituisce le variabili globali.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5440680" y="274320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5806440" y="2359152"/>
            <a:ext cx="3017520" cy="914400"/>
          </a:xfrm>
          <a:prstGeom prst="rect">
            <a:avLst/>
          </a:prstGeom>
          <a:solidFill>
            <a:srgbClr val="0A2A0A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897880" y="24231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onsolas"/>
                <a:ea typeface="Consolas"/>
                <a:cs typeface="Consolas"/>
                <a:sym typeface="Consolas"/>
              </a:rPr>
              <a:t>st.chat_message()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897880" y="2724912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 con avatar per user e assistant. Streamlit gestisce il layout automaticamente.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5440680" y="379476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5806440" y="3410712"/>
            <a:ext cx="3017520" cy="914400"/>
          </a:xfrm>
          <a:prstGeom prst="rect">
            <a:avLst/>
          </a:prstGeom>
          <a:solidFill>
            <a:srgbClr val="0A2A0A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897880" y="34747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B2D8E"/>
                </a:solidFill>
                <a:latin typeface="Consolas"/>
                <a:ea typeface="Consolas"/>
                <a:cs typeface="Consolas"/>
                <a:sym typeface="Consolas"/>
              </a:rPr>
              <a:t>st.chat_input()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897880" y="3776472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Campo di input in fondo alla pagina. Streamlit ricarica la pagina ad ogni invio.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66534"/>
                </a:solidFill>
                <a:latin typeface="Arial Black"/>
                <a:ea typeface="Arial Black"/>
                <a:cs typeface="Arial Black"/>
                <a:sym typeface="Arial Black"/>
              </a:rPr>
              <a:t>Componenti Streamlit per il chatbot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 componenti che usiamo nel progetto finale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20040" y="1051560"/>
            <a:ext cx="2651760" cy="1783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20040" y="1051560"/>
            <a:ext cx="2651760" cy="38404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11480" y="111556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📤  st.file_uploader()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11480" y="15087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Carica PDF da indicizzare con RAG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11480" y="1920240"/>
            <a:ext cx="2468880" cy="7772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57200" y="19659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file = st.file_uploader("PDF", type="pdf")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154680" y="1051560"/>
            <a:ext cx="2651760" cy="1783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154680" y="1051560"/>
            <a:ext cx="265176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246120" y="111556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⚙️  st.sidebar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246120" y="15087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Impostazioni: model, temperature, n_chunks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46120" y="1920240"/>
            <a:ext cx="2468880" cy="7772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291840" y="19659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with st.sidebar: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  temp = st.slider('Temp', 0.0, 1.0, 0.7)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989320" y="1051560"/>
            <a:ext cx="2651760" cy="1783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5989320" y="1051560"/>
            <a:ext cx="265176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080760" y="111556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🔄  st.spinner()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080760" y="15087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Indicatore di caricamento durante la risposta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080760" y="1920240"/>
            <a:ext cx="2468880" cy="7772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126480" y="19659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with st.spinner("Elaboro..."):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  risposta = chat_rag(domanda)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0040" y="2971800"/>
            <a:ext cx="2651760" cy="1783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20040" y="2971800"/>
            <a:ext cx="2651760" cy="38404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11480" y="30358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👍  st.feedback()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11480" y="3429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Thumbs up/down per valutare le risposte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11480" y="3840480"/>
            <a:ext cx="2468880" cy="7772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57200" y="38862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feedback = st.feedback("thumbs")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154680" y="2971800"/>
            <a:ext cx="2651760" cy="1783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154680" y="2971800"/>
            <a:ext cx="2651760" cy="38404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246120" y="30358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📊  st.metric()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46120" y="3429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Mostra token usati e costo stimato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246120" y="3840480"/>
            <a:ext cx="2468880" cy="7772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291840" y="38862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st.metric("Token", usage.total_tokens)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89320" y="2971800"/>
            <a:ext cx="2651760" cy="1783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989320" y="2971800"/>
            <a:ext cx="2651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080760" y="30358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🗑️  st.button()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080760" y="3429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Reset della conversazione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080760" y="3840480"/>
            <a:ext cx="2468880" cy="7772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126480" y="38862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 st.button("Nuova chat"):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  st.session_state.messages = []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Valutare il chatbot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Come si misura la qualità di un sistema AI — Huyen Cap. 3 + 4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20040" y="1234440"/>
            <a:ext cx="2697480" cy="3566160"/>
          </a:xfrm>
          <a:prstGeom prst="rect">
            <a:avLst/>
          </a:prstGeom>
          <a:solidFill>
            <a:srgbClr val="0A4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20040" y="1298448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11480" y="19019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Valutazione funzionale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502920" y="230428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411480" y="2395728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Il codice funziona? La risposta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contiene le informazioni attese?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La struttura è corretta?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1480" y="347472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Quando usarlo: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11480" y="37490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Task con output verificabile: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cod, JSON, calcoli, estrazione dati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0" y="1234440"/>
            <a:ext cx="2697480" cy="356616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200400" y="1298448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91840" y="19019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AI-as-a-Judge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5"/>
          <p:cNvCxnSpPr/>
          <p:nvPr/>
        </p:nvCxnSpPr>
        <p:spPr>
          <a:xfrm>
            <a:off x="3383280" y="230428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3291840" y="2395728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Chiedi a Claude di valutare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le risposte del tuo chatbot.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Scalabile ed economico.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291840" y="347472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Quando usarlo: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291840" y="37490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Valutare qualità, pertinenza,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hallucination, tono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080760" y="1234440"/>
            <a:ext cx="2697480" cy="3566160"/>
          </a:xfrm>
          <a:prstGeom prst="rect">
            <a:avLst/>
          </a:prstGeom>
          <a:solidFill>
            <a:srgbClr val="4A2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080760" y="1298448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172200" y="19019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Valutazione umana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6263640" y="230428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6172200" y="2395728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Utenti reali valutano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le risposte (thumbs up/down,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rating, correzioni).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172200" y="347472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Quando usarlo: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172200" y="37490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Ground truth finale.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Indispensabile per i casi critici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11480" y="4882896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Huyen: nessun singolo metodo è sufficiente. Combina AI-as-a-Judge (scalabile) + valutazione umana (affidabile) + test automatici (ripetibile).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Arial Black"/>
                <a:ea typeface="Arial Black"/>
                <a:cs typeface="Arial Black"/>
                <a:sym typeface="Arial Black"/>
              </a:rPr>
              <a:t>AI-as-a-Judge in codice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Huyen Cap. 4 — usare un LLM per valutare l'output di un altro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65760" y="1097280"/>
            <a:ext cx="5029200" cy="374904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02920" y="1188720"/>
            <a:ext cx="48463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nsolas"/>
              <a:buNone/>
            </a:pPr>
            <a:r>
              <a:rPr b="1" i="0" lang="en-US" sz="8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8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valuta_risposta</a:t>
            </a: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(domanda, risposta, contesto):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prompt = f"""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Valuta questa risposta del chatbot.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Domanda: {domanda}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Contesto RAG: {contesto[:500]}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Risposta: {risposta}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Valuta su questi criteri (1-5):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- Pertinenza: quanto è rilevante?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- Accuratezza: si basa sul contesto?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- Completezza: risponde completamente?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- Hallucination: inventa info? (5=no)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Rispondi SOLO in JSON: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{{"pertinenza": X, "accuratezza": X,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"completezza": X, "hallucination": X,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"nota": "commento breve"}}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result = client.messages.create(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model=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"claude-haiku-4-5-20251001"</a:t>
            </a: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messages=[{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:"user",</a:t>
            </a:r>
            <a:r>
              <a:rPr b="0" i="0" lang="en-US" sz="8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:prompt}]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8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return json.loads(result.content[0].text)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577840" y="1097280"/>
            <a:ext cx="3246120" cy="3749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669280" y="1188720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⚠️ Bias noti dell'AI-as-a-Judge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669280" y="166420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Verbosity bias: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669280" y="19202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Preferisce risposte più lunghe, anche se non migliori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669280" y="239572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Self-preference: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669280" y="26517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modello tende a preferire le proprie risposte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669280" y="312724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Position bias: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669280" y="33832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Preferisce la prima o l'ultima risposta in un confronto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669280" y="385876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Authority bias: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669280" y="41148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Risposte con tono autorevole sembrano più corrette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416415" y="4590310"/>
            <a:ext cx="3246000" cy="530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487915" y="4626905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Fix: usa sempre comparative evaluation — chiedi 'quale risposta è migliore?' invece di un punteggio assoluto.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Guardrails &amp; Sicurezza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Proteggere il chatbot da input impropri — Huyen Cap.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20040" y="1051560"/>
            <a:ext cx="3977640" cy="22860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20040" y="1051560"/>
            <a:ext cx="39776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11480" y="109728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 Guardrail di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11480" y="1508760"/>
            <a:ext cx="37947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Lunghezza max del messaggio (es. 2000 char)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Blocca contenuti inappropriati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Rileva prompt injection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Validazione del file caricato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00" y="1051560"/>
            <a:ext cx="4251960" cy="2286000"/>
          </a:xfrm>
          <a:prstGeom prst="rect">
            <a:avLst/>
          </a:prstGeom>
          <a:solidFill>
            <a:srgbClr val="F0FFF0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572000" y="1051560"/>
            <a:ext cx="4251960" cy="38404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663440" y="109728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Guardrail di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663440" y="1508760"/>
            <a:ext cx="40690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Lunghezza max della risposta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Verifica che sia basata sul contesto RAG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Blocca dati sensibili (email, telefoni...)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• Istruzione anti-hallucination nel system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20040" y="3493008"/>
            <a:ext cx="8503920" cy="1481328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57200" y="3566160"/>
            <a:ext cx="8321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00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guardrail_input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(testo):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if len(testo) &gt; 2000: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return None, "Messaggio troppo lungo (max 2000 caratteri)"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parole_vietate = 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"spam"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"ignore previous instructions"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if any(p in testo.lower() for p in parole_vietate):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return None, "Input non consentito"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return testo, None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Deploy su Streamlit Cloud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48640" y="8503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Dal tuo laptop a internet — gratuito, in 5 minuti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48640" y="1234440"/>
            <a:ext cx="4114800" cy="1645920"/>
          </a:xfrm>
          <a:prstGeom prst="rect">
            <a:avLst/>
          </a:prstGeom>
          <a:solidFill>
            <a:srgbClr val="0A3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207008" y="139903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Prepara la repo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40080" y="1764792"/>
            <a:ext cx="3931920" cy="10058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85800" y="181051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requirements.txt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85800" y="199339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anthropicchromadb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85800" y="217627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pypdf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85800" y="23591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streamlit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85800" y="25420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requests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85800" y="272491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sentence-transformers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846320" y="1234440"/>
            <a:ext cx="4114800" cy="1645920"/>
          </a:xfrm>
          <a:prstGeom prst="rect">
            <a:avLst/>
          </a:prstGeom>
          <a:solidFill>
            <a:srgbClr val="0A4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504688" y="139903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 requirements.txt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937760" y="1764792"/>
            <a:ext cx="3931920" cy="10058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983480" y="181051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Nel terminale: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983480" y="199339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pip freeze &gt; requirements.txt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983480" y="217627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983480" y="23591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Oppure scrivi manualmente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983480" y="25420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i pacchetti che usi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48640" y="3017520"/>
            <a:ext cx="4114800" cy="1645920"/>
          </a:xfrm>
          <a:prstGeom prst="rect">
            <a:avLst/>
          </a:prstGeom>
          <a:solidFill>
            <a:srgbClr val="3A0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207008" y="318211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Push su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" y="3547872"/>
            <a:ext cx="3931920" cy="10058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85800" y="359359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git add app.py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85800" y="377647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git add requirements.txt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85800" y="39593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git commit -m 'Add Streamlit app'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85800" y="41422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46320" y="3017520"/>
            <a:ext cx="4114800" cy="1645920"/>
          </a:xfrm>
          <a:prstGeom prst="rect">
            <a:avLst/>
          </a:prstGeom>
          <a:solidFill>
            <a:srgbClr val="5A3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504688" y="318211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 su share.streamlit.io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937760" y="3547872"/>
            <a:ext cx="3931920" cy="10058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983480" y="359359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1. Vai su share.streamlit.io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983480" y="377647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2. New app → tua repo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83480" y="39593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3. Branch: main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983480" y="41422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4. Main file: app.py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983480" y="432511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5. Advanced → Secrets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Secrets e Portfolio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La API key su Streamlit Cloud + come presentare il progetto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0040" y="1051560"/>
            <a:ext cx="3977640" cy="34747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11480" y="11430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🔒 Gestire la API key su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11480" y="1536192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Su Streamlit Cloud non esiste il file .env.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La API key va nei Secrets del deploy: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11480" y="2103120"/>
            <a:ext cx="3794760" cy="9144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57200" y="2148840"/>
            <a:ext cx="3703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Nel codice app.py:</a:t>
            </a:r>
            <a:b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0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streamlit </a:t>
            </a:r>
            <a:r>
              <a:rPr b="1" i="0" lang="en-US" sz="100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st</a:t>
            </a:r>
            <a:b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api_key = st.secrets[</a:t>
            </a: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"ANTHROPIC_API_KEY"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11480" y="310896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Su Streamlit Cloud → Deploy → Advanced → Secrets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11480" y="340156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Aggiungi: ANTHROPIC_API_KEY = sk-ant-...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11480" y="3694176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secret non è visibile nel codice né nei log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11480" y="398678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Funziona esattamente come st.secrets['chiave']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572000" y="1051560"/>
            <a:ext cx="4251960" cy="34747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663440" y="114300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🏆 Il tuo portfolio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663440" y="153619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Cosa hai costruito in questo corso: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663440" y="1938528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Script Python che chiama un LLM via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663440" y="2267712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Prompt library con 10 template documentati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663440" y="2596896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Chatbot CLI con memoria persistente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663440" y="292608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Chatbot RAG che legge documenti PDF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663440" y="3255264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Chatbot con 3 tool + 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663440" y="3584448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App web con Streamlit deployata online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663440" y="3913632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Test di valutazione con AI-as-a-Judge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572000" y="4224528"/>
            <a:ext cx="4251960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663440" y="4261104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Tutto pubblico su GitHub — mostralo nelle candidature e al tirocinio.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6534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Fine del corso 🎓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0A2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Hai costruito tutto questo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40080" y="1508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Ambiente Python e API key gestita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40080" y="183794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library e Chain-of-Thought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40080" y="21671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con memoria JSON persistente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40080" y="2496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con ChromaDB su documenti reali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40080" y="2825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use: meteo, calcolatrice, Wikipedia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40080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server connesso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40080" y="34838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web con 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40080" y="3813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Valutazione con AI-as-a-Judge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0080" y="41422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Guardrails e sicurezza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40080" y="447141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 pubblico su internet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754880" y="1005840"/>
            <a:ext cx="4023360" cy="1920240"/>
          </a:xfrm>
          <a:prstGeom prst="rect">
            <a:avLst/>
          </a:prstGeom>
          <a:solidFill>
            <a:srgbClr val="E877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Deliverable finale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846320" y="1444752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URL pubblico online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Repository GitHub completo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README professionale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Posizionamento Crawl-Walk-Run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Cosa faresti come passo successivo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754880" y="2999232"/>
            <a:ext cx="4023360" cy="1828800"/>
          </a:xfrm>
          <a:prstGeom prst="rect">
            <a:avLst/>
          </a:prstGeom>
          <a:solidFill>
            <a:srgbClr val="0A3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4846320" y="307238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🚀 E adesso?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846320" y="3438144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1. Migliora il chatbot con feedback reali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2. Leggi i capitoli Huyen che non abbiamo coperto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3. Costruisci qualcosa di nuovo — il corso è un punto di partenza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4. Metti il link GitHub sul CV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2026-05-14T07:29:08Z</dcterms:created>
  <dc:creator>Marco Uras</dc:creator>
</cp:coreProperties>
</file>